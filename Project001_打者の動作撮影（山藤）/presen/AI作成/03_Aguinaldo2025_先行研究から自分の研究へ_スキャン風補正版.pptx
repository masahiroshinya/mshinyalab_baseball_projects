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492A-3248-E0D4-F1CE-E600ECBC4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39DFF-0081-4485-CC3E-F4766EF3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32CD8-22AD-EAC7-CA87-47BC36A7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26232-67AB-F969-8B60-5E4FC7F9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313EC-8E86-00E2-EE52-886412D6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E876D-718B-5367-2ED1-454B0303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9FA3F-3B0B-99BE-C709-F501E3A33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3336-6312-ADBD-3D26-C527C2A5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82F2B-16DE-BC55-02F0-D427F338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42B5D-F28B-04D8-3EA9-F9EF010F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45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05F10-1532-ECEB-741D-C6930D6F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496B8A-4D4F-3C43-5871-6F23CFA4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5F243-E9CD-F6D8-807F-90AD3DC0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2C5A0-A76B-0100-55D9-E4F91E14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2345E-5F9C-E5D0-9789-1FD52265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9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9373E-5525-D007-7AAF-B68CD72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C0229B-0F23-457B-1046-21561C7A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131BB7-D3F8-0339-5FE1-CF1FBA71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4A8E3-1425-4DDF-C01E-27AEAE46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510884-6C93-E45A-9299-7627EA74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935544-25F5-6B5D-668B-EBF53EE5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07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540E6-9AE1-E69E-CD16-B642F3B5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988A2-2274-D8CF-8D51-0221E7C0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62A7E-AF0A-5BC2-7822-C1D87AA3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38F314-D47E-2EF2-F1E7-A5F8E31C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11EEE0-095E-BD20-0029-154BF350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075660-70C1-BE35-E979-340CE046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CAE5F4-3C10-00A2-FA0F-6187FA5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CE09F74-B3D0-D37D-81C8-4BA90060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15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C35FC-D5A0-2BAE-9F28-F0750900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67F71A-EF3D-9F08-538D-F12306AA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54BCA6-0924-C6FF-F9F5-3BCE7B54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EF7754-91F7-FE7F-611D-9994FA52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66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B52806-1EE7-172D-25FE-EA0A44D6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3B2139-7A01-23D1-29AD-3077BAC4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18532-658A-6201-922D-3D543DC4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67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2B362B-0128-FD29-BB3D-0E3C6788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513149-F6B6-8FF5-BDDB-4C00C7EE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29495A-5DB1-B480-0305-50BBEB27A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EB7A1B-3BC4-4A90-4FD6-166DBBEF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77FDE8-FB76-DFBE-42E8-74175D6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0AA09-455E-FAB3-9254-1EFDB5A1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259E83-5F14-25BA-0A96-DB5D7538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1FC9C9-C6A6-2E51-1BC3-D220F06E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6BF56-9466-047C-D648-E429C1DF3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0D2B2-8917-397D-B3A2-941605FB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87C0B-442F-0CBE-1001-17F6468B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D67DE6-8D8F-B892-3EAA-6ADCC65C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3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E25A6-6C33-BA7D-9749-94CDE5FC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12854-B541-905B-26AF-88D1C314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2C28C-4D06-6390-B597-2EE7E984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A5463D-8824-5EBA-A6C5-6CC9F22D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435E1-32CF-3D55-FC7C-94F0EA10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8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5E546E-F759-D11A-6059-57945A4E1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59BD67-35FA-3739-437F-217CC668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4371E-829E-97D7-2A68-DF585A7F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8E20A-F185-087C-4E8B-136001D4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762D9-0F43-9CDE-4E44-B91EBADC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5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D0C34-D08E-2A73-3E30-BCEC283F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B61B9-2D00-F192-B166-FA6642CC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D12552-0DB5-75EF-7070-D90FE5187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6A180-EE6D-7168-B68D-E2A272214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9953EF-FB71-28C7-7613-03788ABC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0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12EE5C-A818-BA3B-3471-BEBB5356B53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122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D3C41-15AB-8F04-AF04-F5F9C4682D12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E1EF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B628AD-6302-34C1-DC1E-007528FA49D2}"/>
              </a:ext>
            </a:extLst>
          </p:cNvPr>
          <p:cNvSpPr txBox="1"/>
          <p:nvPr/>
        </p:nvSpPr>
        <p:spPr>
          <a:xfrm>
            <a:off x="685800" y="1016000"/>
            <a:ext cx="6350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先行研究から、自分の研究へ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721203-6CD9-8A8F-EB11-3D691517A64E}"/>
              </a:ext>
            </a:extLst>
          </p:cNvPr>
          <p:cNvSpPr txBox="1"/>
          <p:nvPr/>
        </p:nvSpPr>
        <p:spPr>
          <a:xfrm>
            <a:off x="685800" y="1968500"/>
            <a:ext cx="641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野球投球におけるマーカーレス
モーションキャプチャの精度検証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9AF3E4-7FC3-85D1-99A3-24EDF44C3E0F}"/>
              </a:ext>
            </a:extLst>
          </p:cNvPr>
          <p:cNvSpPr txBox="1"/>
          <p:nvPr/>
        </p:nvSpPr>
        <p:spPr>
          <a:xfrm>
            <a:off x="711200" y="3810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「方法を借りる」＋「限界から課題を立てる」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F88786-AB99-EFB9-56C3-98D329CB2202}"/>
              </a:ext>
            </a:extLst>
          </p:cNvPr>
          <p:cNvSpPr txBox="1"/>
          <p:nvPr/>
        </p:nvSpPr>
        <p:spPr>
          <a:xfrm>
            <a:off x="8255000" y="1244600"/>
            <a:ext cx="3175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
Journal of Sports Sciences
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山藤健太郎｜発表用たたき台｜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2026-07-21</a:t>
            </a:r>
            <a:endParaRPr kumimoji="1" lang="ja-JP" altLang="en-US" sz="1600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C6A009-6F3D-898A-0C49-255B875BF44D}"/>
              </a:ext>
            </a:extLst>
          </p:cNvPr>
          <p:cNvSpPr txBox="1"/>
          <p:nvPr/>
        </p:nvSpPr>
        <p:spPr>
          <a:xfrm>
            <a:off x="8255000" y="4191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KEY QUESTION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F16367-3858-CF5A-BC33-00DC162B7BDB}"/>
              </a:ext>
            </a:extLst>
          </p:cNvPr>
          <p:cNvSpPr txBox="1"/>
          <p:nvPr/>
        </p:nvSpPr>
        <p:spPr>
          <a:xfrm>
            <a:off x="8255000" y="4572000"/>
            <a:ext cx="2921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4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この論文は、
自分の研究の
どこに効くのか？</a:t>
            </a:r>
          </a:p>
        </p:txBody>
      </p:sp>
    </p:spTree>
    <p:extLst>
      <p:ext uri="{BB962C8B-B14F-4D97-AF65-F5344CB8AC3E}">
        <p14:creationId xmlns:p14="http://schemas.microsoft.com/office/powerpoint/2010/main" val="106037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89D25C-9E8E-F535-CCD6-0084F865440D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BACKGROUND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004993-9C88-0D4A-4241-D001B50FB0C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なぜ、この先行研究を読むのか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3EB293-20FF-C83E-7E50-D869B8673D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3AB053-68AE-1F03-0D00-97E49D028EE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648EB2-6D03-9FC0-9CF8-7DAB56A7002D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135B89D-E1FB-8455-19E0-FF5FC53B3B59}"/>
              </a:ext>
            </a:extLst>
          </p:cNvPr>
          <p:cNvSpPr/>
          <p:nvPr/>
        </p:nvSpPr>
        <p:spPr>
          <a:xfrm>
            <a:off x="6096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870F4D-0B12-22F7-4EB0-444BF1BB6462}"/>
              </a:ext>
            </a:extLst>
          </p:cNvPr>
          <p:cNvSpPr/>
          <p:nvPr/>
        </p:nvSpPr>
        <p:spPr>
          <a:xfrm>
            <a:off x="609600" y="1714500"/>
            <a:ext cx="88900" cy="311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730152-AD45-8492-CD0D-7D847BD939F5}"/>
              </a:ext>
            </a:extLst>
          </p:cNvPr>
          <p:cNvSpPr txBox="1"/>
          <p:nvPr/>
        </p:nvSpPr>
        <p:spPr>
          <a:xfrm>
            <a:off x="8636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現場のニーズ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EE05ED-7E96-55D7-1FDD-4E9CC28BC45F}"/>
              </a:ext>
            </a:extLst>
          </p:cNvPr>
          <p:cNvSpPr txBox="1"/>
          <p:nvPr/>
        </p:nvSpPr>
        <p:spPr>
          <a:xfrm>
            <a:off x="8636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高価な実験室設備や身体マーカーを使わず、競技現場で動作を継続的に測りたい。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0D84BC3-BE73-569B-1ED6-E779EFB4AFEE}"/>
              </a:ext>
            </a:extLst>
          </p:cNvPr>
          <p:cNvSpPr/>
          <p:nvPr/>
        </p:nvSpPr>
        <p:spPr>
          <a:xfrm>
            <a:off x="44450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240185-FA44-1DE4-5D11-8E518664DBF6}"/>
              </a:ext>
            </a:extLst>
          </p:cNvPr>
          <p:cNvSpPr/>
          <p:nvPr/>
        </p:nvSpPr>
        <p:spPr>
          <a:xfrm>
            <a:off x="4445000" y="1714500"/>
            <a:ext cx="88900" cy="311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5E9344-A7D7-4807-D16D-EA617E27C4E3}"/>
              </a:ext>
            </a:extLst>
          </p:cNvPr>
          <p:cNvSpPr txBox="1"/>
          <p:nvPr/>
        </p:nvSpPr>
        <p:spPr>
          <a:xfrm>
            <a:off x="46990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残る疑問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859A2B-7F48-43F5-1CA4-DC0FE08152F8}"/>
              </a:ext>
            </a:extLst>
          </p:cNvPr>
          <p:cNvSpPr txBox="1"/>
          <p:nvPr/>
        </p:nvSpPr>
        <p:spPr>
          <a:xfrm>
            <a:off x="46990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通常の映像から得た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座標は、どの程度「正しい」のか。特に高速な上肢動作で使えるのか。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59ABCDC-FCE7-7198-FC8B-ACA94B25BC6D}"/>
              </a:ext>
            </a:extLst>
          </p:cNvPr>
          <p:cNvSpPr/>
          <p:nvPr/>
        </p:nvSpPr>
        <p:spPr>
          <a:xfrm>
            <a:off x="82804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34AD19-B791-8BF4-3746-4C3573534F7F}"/>
              </a:ext>
            </a:extLst>
          </p:cNvPr>
          <p:cNvSpPr/>
          <p:nvPr/>
        </p:nvSpPr>
        <p:spPr>
          <a:xfrm>
            <a:off x="8280400" y="1714500"/>
            <a:ext cx="88900" cy="311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2BA06D-28D8-02C6-F112-74805A1B65A4}"/>
              </a:ext>
            </a:extLst>
          </p:cNvPr>
          <p:cNvSpPr txBox="1"/>
          <p:nvPr/>
        </p:nvSpPr>
        <p:spPr>
          <a:xfrm>
            <a:off x="85344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この論文の役割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DB0E5F-8128-E4F1-6994-B05B71D2E142}"/>
              </a:ext>
            </a:extLst>
          </p:cNvPr>
          <p:cNvSpPr txBox="1"/>
          <p:nvPr/>
        </p:nvSpPr>
        <p:spPr>
          <a:xfrm>
            <a:off x="85344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球場常設型と可搬型の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種類を、マーカーベース計測と同時比較し、誤差を多段階で評価した。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FF918BF-2EF5-0BAC-C565-D39837AC7EB8}"/>
              </a:ext>
            </a:extLst>
          </p:cNvPr>
          <p:cNvCxnSpPr/>
          <p:nvPr/>
        </p:nvCxnSpPr>
        <p:spPr>
          <a:xfrm>
            <a:off x="39243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23F888-7053-095E-B1C3-99B999504E09}"/>
              </a:ext>
            </a:extLst>
          </p:cNvPr>
          <p:cNvCxnSpPr/>
          <p:nvPr/>
        </p:nvCxnSpPr>
        <p:spPr>
          <a:xfrm>
            <a:off x="77597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3E38EB-2227-944F-57B5-7A02E10B0FBE}"/>
              </a:ext>
            </a:extLst>
          </p:cNvPr>
          <p:cNvSpPr txBox="1"/>
          <p:nvPr/>
        </p:nvSpPr>
        <p:spPr>
          <a:xfrm>
            <a:off x="990600" y="5397500"/>
            <a:ext cx="10223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発表では「便利そう」ではなく、「何を基準に、どの指標で妥当性を示すか」へ話を進める。</a:t>
            </a:r>
          </a:p>
        </p:txBody>
      </p:sp>
    </p:spTree>
    <p:extLst>
      <p:ext uri="{BB962C8B-B14F-4D97-AF65-F5344CB8AC3E}">
        <p14:creationId xmlns:p14="http://schemas.microsoft.com/office/powerpoint/2010/main" val="13140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64E53F-3421-3C34-7151-8702815CEBB9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METHOD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D48EAB-2A76-24A5-7C24-1149834C6DCA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比較の設計：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システムを同時に測る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DB9BD0-50C9-7451-A092-0BD1E5FB850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5B4773-32A8-6C52-FB79-B95D8A7A6F5A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8FC12-7C29-C48A-C3F1-930885C0432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A5128E-10FC-931D-96C6-998606246085}"/>
              </a:ext>
            </a:extLst>
          </p:cNvPr>
          <p:cNvSpPr/>
          <p:nvPr/>
        </p:nvSpPr>
        <p:spPr>
          <a:xfrm>
            <a:off x="660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867D95-1D1B-9C2D-4ABA-92EE9454C5C5}"/>
              </a:ext>
            </a:extLst>
          </p:cNvPr>
          <p:cNvSpPr txBox="1"/>
          <p:nvPr/>
        </p:nvSpPr>
        <p:spPr>
          <a:xfrm>
            <a:off x="952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2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AF2B60-40E6-EE3F-9022-C1C32DE12572}"/>
              </a:ext>
            </a:extLst>
          </p:cNvPr>
          <p:cNvSpPr txBox="1"/>
          <p:nvPr/>
        </p:nvSpPr>
        <p:spPr>
          <a:xfrm>
            <a:off x="952500" y="2603500"/>
            <a:ext cx="2540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29 keypoints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独自の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machine vision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5B9E8F-569F-FA08-6A47-59A372AC02E3}"/>
              </a:ext>
            </a:extLst>
          </p:cNvPr>
          <p:cNvSpPr txBox="1"/>
          <p:nvPr/>
        </p:nvSpPr>
        <p:spPr>
          <a:xfrm>
            <a:off x="12827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44E069-11F8-4BE3-8BBA-76E69DEB3450}"/>
              </a:ext>
            </a:extLst>
          </p:cNvPr>
          <p:cNvSpPr/>
          <p:nvPr/>
        </p:nvSpPr>
        <p:spPr>
          <a:xfrm>
            <a:off x="4533900" y="1739900"/>
            <a:ext cx="3111500" cy="3175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D4A68-EE18-FD1B-CE0B-2EDA07674E12}"/>
              </a:ext>
            </a:extLst>
          </p:cNvPr>
          <p:cNvSpPr txBox="1"/>
          <p:nvPr/>
        </p:nvSpPr>
        <p:spPr>
          <a:xfrm>
            <a:off x="48260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Marker-based</a:t>
            </a:r>
            <a:endParaRPr kumimoji="1" lang="ja-JP" altLang="en-US" sz="22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4CD47C-E471-EDD6-AED6-412AAF9C85CE}"/>
              </a:ext>
            </a:extLst>
          </p:cNvPr>
          <p:cNvSpPr txBox="1"/>
          <p:nvPr/>
        </p:nvSpPr>
        <p:spPr>
          <a:xfrm>
            <a:off x="48260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参照基準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38 reflective markers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関節中心を算出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612F66-C547-E0DA-46A4-E67ACD846972}"/>
              </a:ext>
            </a:extLst>
          </p:cNvPr>
          <p:cNvSpPr txBox="1"/>
          <p:nvPr/>
        </p:nvSpPr>
        <p:spPr>
          <a:xfrm>
            <a:off x="51435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REFERENCE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63BF6B4-8F56-D59B-73D6-33949FF83A69}"/>
              </a:ext>
            </a:extLst>
          </p:cNvPr>
          <p:cNvSpPr/>
          <p:nvPr/>
        </p:nvSpPr>
        <p:spPr>
          <a:xfrm>
            <a:off x="8407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F59A70-65D2-AFBD-7A05-54A8E2259592}"/>
              </a:ext>
            </a:extLst>
          </p:cNvPr>
          <p:cNvSpPr txBox="1"/>
          <p:nvPr/>
        </p:nvSpPr>
        <p:spPr>
          <a:xfrm>
            <a:off x="8699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2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D3DCC9-0483-50B7-D37F-839E14D0328D}"/>
              </a:ext>
            </a:extLst>
          </p:cNvPr>
          <p:cNvSpPr txBox="1"/>
          <p:nvPr/>
        </p:nvSpPr>
        <p:spPr>
          <a:xfrm>
            <a:off x="86995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可搬型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124 salient features
scaled 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1C86EE-4D01-C0DF-4E3C-ECAD54E48AB6}"/>
              </a:ext>
            </a:extLst>
          </p:cNvPr>
          <p:cNvSpPr txBox="1"/>
          <p:nvPr/>
        </p:nvSpPr>
        <p:spPr>
          <a:xfrm>
            <a:off x="90170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3938C24-943F-4A9E-D157-3CF936CE6744}"/>
              </a:ext>
            </a:extLst>
          </p:cNvPr>
          <p:cNvCxnSpPr/>
          <p:nvPr/>
        </p:nvCxnSpPr>
        <p:spPr>
          <a:xfrm>
            <a:off x="3810000" y="3302000"/>
            <a:ext cx="6350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79C9890-0907-DB71-8527-51CCD36A55ED}"/>
              </a:ext>
            </a:extLst>
          </p:cNvPr>
          <p:cNvCxnSpPr/>
          <p:nvPr/>
        </p:nvCxnSpPr>
        <p:spPr>
          <a:xfrm flipH="1">
            <a:off x="7734300" y="3302000"/>
            <a:ext cx="5842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95D50FF-6E72-1A3C-A03C-5114E5558B95}"/>
              </a:ext>
            </a:extLst>
          </p:cNvPr>
          <p:cNvSpPr txBox="1"/>
          <p:nvPr/>
        </p:nvSpPr>
        <p:spPr>
          <a:xfrm>
            <a:off x="914400" y="53975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対象：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NCAA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男子投手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名｜最大努力の速球｜対応が取れた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104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球｜平均球速 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135.7 ± 6.6 km/h</a:t>
            </a:r>
            <a:endParaRPr kumimoji="1" lang="ja-JP" altLang="en-US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9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FE5016-A0CF-3509-F019-3875F71F5F4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POSE ESTIMATION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9D5E7-9A15-7639-02DD-6ED427BB65ED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姿勢推定モデルは何を使っているか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241DD9-36DB-A846-193A-3EA4F00A3417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2C29DC-280D-4E80-DD1E-AD5CCDE563E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CDFE71-3900-D903-232F-01C2BABA8F8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0ACFB-6AB6-A1D2-0D96-EAE8C37C7096}"/>
              </a:ext>
            </a:extLst>
          </p:cNvPr>
          <p:cNvSpPr/>
          <p:nvPr/>
        </p:nvSpPr>
        <p:spPr>
          <a:xfrm>
            <a:off x="6985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B184839-02FD-CFD7-AC67-D66C992AE19C}"/>
              </a:ext>
            </a:extLst>
          </p:cNvPr>
          <p:cNvSpPr/>
          <p:nvPr/>
        </p:nvSpPr>
        <p:spPr>
          <a:xfrm>
            <a:off x="698500" y="1714500"/>
            <a:ext cx="88900" cy="3810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127EAB-0C19-F77A-AB93-4A3FA713B946}"/>
              </a:ext>
            </a:extLst>
          </p:cNvPr>
          <p:cNvSpPr txBox="1"/>
          <p:nvPr/>
        </p:nvSpPr>
        <p:spPr>
          <a:xfrm>
            <a:off x="9525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DD91DA-817B-2EFE-4AC5-95DB54D564B7}"/>
              </a:ext>
            </a:extLst>
          </p:cNvPr>
          <p:cNvSpPr txBox="1"/>
          <p:nvPr/>
        </p:nvSpPr>
        <p:spPr>
          <a:xfrm>
            <a:off x="9525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独自の機械視覚アルゴリズム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点のキーポイント
↓
逆運動学（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）で骨格モデルへ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B7A6CFD-4C7A-F4FC-7065-FDE7DEBD16D5}"/>
              </a:ext>
            </a:extLst>
          </p:cNvPr>
          <p:cNvSpPr/>
          <p:nvPr/>
        </p:nvSpPr>
        <p:spPr>
          <a:xfrm>
            <a:off x="66040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966333-DAA6-EA37-59E6-39525E6DE9BF}"/>
              </a:ext>
            </a:extLst>
          </p:cNvPr>
          <p:cNvSpPr/>
          <p:nvPr/>
        </p:nvSpPr>
        <p:spPr>
          <a:xfrm>
            <a:off x="6604000" y="1714500"/>
            <a:ext cx="88900" cy="3810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C08CA4-90BD-1F56-AF5D-4D5CC49F6C59}"/>
              </a:ext>
            </a:extLst>
          </p:cNvPr>
          <p:cNvSpPr txBox="1"/>
          <p:nvPr/>
        </p:nvSpPr>
        <p:spPr>
          <a:xfrm>
            <a:off x="6858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2CE5118-6DCD-5CF0-1CFE-7D596532997D}"/>
              </a:ext>
            </a:extLst>
          </p:cNvPr>
          <p:cNvSpPr txBox="1"/>
          <p:nvPr/>
        </p:nvSpPr>
        <p:spPr>
          <a:xfrm>
            <a:off x="68580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の深層学習モデル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124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個の特徴点
↓
被験者にスケールした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モデル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F2C157-299F-EE21-559F-442D4D83411C}"/>
              </a:ext>
            </a:extLst>
          </p:cNvPr>
          <p:cNvSpPr txBox="1"/>
          <p:nvPr/>
        </p:nvSpPr>
        <p:spPr>
          <a:xfrm>
            <a:off x="1206500" y="5880100"/>
            <a:ext cx="977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重要：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を使った研究ではない。学べるのは「検証設計」であり、モデル精度をそのまま自分の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系へ移せない。</a:t>
            </a:r>
          </a:p>
        </p:txBody>
      </p:sp>
    </p:spTree>
    <p:extLst>
      <p:ext uri="{BB962C8B-B14F-4D97-AF65-F5344CB8AC3E}">
        <p14:creationId xmlns:p14="http://schemas.microsoft.com/office/powerpoint/2010/main" val="327822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5D8BD8-A8E1-90EB-1EA4-0E4092905A5F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PRIMARY METRIC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E6A76-0A80-7818-8E57-8F3957534FA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は「何から」の位置誤差か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DD3B9E-9A8F-6A8C-386F-E1FFB2279D6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E1927E-84B6-2737-4F5C-3CB07C8D909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098A0E-87F7-8084-D54A-0E242BFCCAB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7C12CB-66D9-3DB0-82F5-BC6A23384677}"/>
              </a:ext>
            </a:extLst>
          </p:cNvPr>
          <p:cNvSpPr/>
          <p:nvPr/>
        </p:nvSpPr>
        <p:spPr>
          <a:xfrm>
            <a:off x="660400" y="1651000"/>
            <a:ext cx="5207000" cy="41275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18E0CD-8BEE-9140-0064-FAC3B55D77CD}"/>
              </a:ext>
            </a:extLst>
          </p:cNvPr>
          <p:cNvSpPr txBox="1"/>
          <p:nvPr/>
        </p:nvSpPr>
        <p:spPr>
          <a:xfrm>
            <a:off x="1016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同じ時刻・同じ関節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824D96A-3629-1B16-A08B-14FF3D9383C5}"/>
              </a:ext>
            </a:extLst>
          </p:cNvPr>
          <p:cNvSpPr/>
          <p:nvPr/>
        </p:nvSpPr>
        <p:spPr>
          <a:xfrm>
            <a:off x="1295400" y="2768600"/>
            <a:ext cx="228600" cy="228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9E09614-7919-C32A-1BC6-27A9B2C30110}"/>
              </a:ext>
            </a:extLst>
          </p:cNvPr>
          <p:cNvSpPr/>
          <p:nvPr/>
        </p:nvSpPr>
        <p:spPr>
          <a:xfrm>
            <a:off x="4191000" y="3556000"/>
            <a:ext cx="228600" cy="228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0CE63D-17A1-6D1E-B373-4E4A241487F3}"/>
              </a:ext>
            </a:extLst>
          </p:cNvPr>
          <p:cNvSpPr txBox="1"/>
          <p:nvPr/>
        </p:nvSpPr>
        <p:spPr>
          <a:xfrm>
            <a:off x="889000" y="2413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マーカーベースの関節中心 </a:t>
            </a:r>
            <a:r>
              <a:rPr kumimoji="1" lang="en-US" altLang="ja-JP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</a:t>
            </a:r>
            <a:endParaRPr kumimoji="1" lang="ja-JP" altLang="en-US" sz="15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0AD5CD-E7A3-8470-DD54-CCC9EBBE6B93}"/>
              </a:ext>
            </a:extLst>
          </p:cNvPr>
          <p:cNvSpPr txBox="1"/>
          <p:nvPr/>
        </p:nvSpPr>
        <p:spPr>
          <a:xfrm>
            <a:off x="3708400" y="38862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マーカーレス推定位置 </a:t>
            </a:r>
            <a:r>
              <a:rPr kumimoji="1" lang="en-US" altLang="ja-JP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p̂</a:t>
            </a:r>
            <a:endParaRPr kumimoji="1" lang="ja-JP" altLang="en-US" sz="15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D275859-848D-56AD-4D4E-78C2B82090FB}"/>
              </a:ext>
            </a:extLst>
          </p:cNvPr>
          <p:cNvCxnSpPr/>
          <p:nvPr/>
        </p:nvCxnSpPr>
        <p:spPr>
          <a:xfrm>
            <a:off x="1574800" y="2895600"/>
            <a:ext cx="2552700" cy="647700"/>
          </a:xfrm>
          <a:prstGeom prst="line">
            <a:avLst/>
          </a:prstGeom>
          <a:ln w="31750">
            <a:solidFill>
              <a:srgbClr val="CC49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201E659-C7F4-31AC-BF37-4C649B8B640D}"/>
              </a:ext>
            </a:extLst>
          </p:cNvPr>
          <p:cNvSpPr txBox="1"/>
          <p:nvPr/>
        </p:nvSpPr>
        <p:spPr>
          <a:xfrm>
            <a:off x="2260600" y="30226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次元の直線距離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204D80-FAB1-50A7-03A9-1A4E8BE86509}"/>
              </a:ext>
            </a:extLst>
          </p:cNvPr>
          <p:cNvSpPr txBox="1"/>
          <p:nvPr/>
        </p:nvSpPr>
        <p:spPr>
          <a:xfrm>
            <a:off x="1130300" y="4762500"/>
            <a:ext cx="419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 = mean ‖p̂ − p‖₂</a:t>
            </a:r>
            <a:endParaRPr kumimoji="1" lang="ja-JP" altLang="en-US" sz="23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B983B3-7C7C-DCA1-27D7-E63CFDD3934E}"/>
              </a:ext>
            </a:extLst>
          </p:cNvPr>
          <p:cNvSpPr txBox="1"/>
          <p:nvPr/>
        </p:nvSpPr>
        <p:spPr>
          <a:xfrm>
            <a:off x="1016000" y="52705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4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この距離を関節・フレーム・試技などで平均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C68861-C395-2402-F475-47F3533B4F1B}"/>
              </a:ext>
            </a:extLst>
          </p:cNvPr>
          <p:cNvSpPr txBox="1"/>
          <p:nvPr/>
        </p:nvSpPr>
        <p:spPr>
          <a:xfrm>
            <a:off x="6604000" y="1803400"/>
            <a:ext cx="444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全関節平均 </a:t>
            </a:r>
            <a:r>
              <a:rPr kumimoji="1" lang="en-US" altLang="ja-JP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sz="20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86666A-34D7-5423-B4B9-1B66BC373AD4}"/>
              </a:ext>
            </a:extLst>
          </p:cNvPr>
          <p:cNvSpPr txBox="1"/>
          <p:nvPr/>
        </p:nvSpPr>
        <p:spPr>
          <a:xfrm>
            <a:off x="6604000" y="25908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2D4109-0F8A-643E-07A7-F1066186AD08}"/>
              </a:ext>
            </a:extLst>
          </p:cNvPr>
          <p:cNvSpPr/>
          <p:nvPr/>
        </p:nvSpPr>
        <p:spPr>
          <a:xfrm>
            <a:off x="8153400" y="2565400"/>
            <a:ext cx="2870200" cy="3429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97A27D8-D262-A162-BD50-68B89BF9C734}"/>
              </a:ext>
            </a:extLst>
          </p:cNvPr>
          <p:cNvSpPr txBox="1"/>
          <p:nvPr/>
        </p:nvSpPr>
        <p:spPr>
          <a:xfrm>
            <a:off x="9842500" y="26035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56.6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B3E63D-930E-B946-550E-D260E23E74F4}"/>
              </a:ext>
            </a:extLst>
          </p:cNvPr>
          <p:cNvSpPr txBox="1"/>
          <p:nvPr/>
        </p:nvSpPr>
        <p:spPr>
          <a:xfrm>
            <a:off x="6604000" y="33655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E2F2A4-D22A-5437-40FF-CCF2843C721C}"/>
              </a:ext>
            </a:extLst>
          </p:cNvPr>
          <p:cNvSpPr/>
          <p:nvPr/>
        </p:nvSpPr>
        <p:spPr>
          <a:xfrm>
            <a:off x="8153400" y="3340100"/>
            <a:ext cx="2641600" cy="3429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A25C87-2FF1-86FE-04F6-5AD1500F1AF6}"/>
              </a:ext>
            </a:extLst>
          </p:cNvPr>
          <p:cNvSpPr txBox="1"/>
          <p:nvPr/>
        </p:nvSpPr>
        <p:spPr>
          <a:xfrm>
            <a:off x="9613900" y="33782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52.0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0C62FD-2BD9-CC13-7490-B272FEB0F616}"/>
              </a:ext>
            </a:extLst>
          </p:cNvPr>
          <p:cNvSpPr txBox="1"/>
          <p:nvPr/>
        </p:nvSpPr>
        <p:spPr>
          <a:xfrm>
            <a:off x="6604000" y="4152900"/>
            <a:ext cx="444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平均すると約</a:t>
            </a:r>
            <a:r>
              <a:rPr kumimoji="1" lang="en-US" altLang="ja-JP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5〜6 cm</a:t>
            </a:r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ずれた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FE0D500-1E06-9A9F-4698-8F094D47D21C}"/>
              </a:ext>
            </a:extLst>
          </p:cNvPr>
          <p:cNvSpPr txBox="1"/>
          <p:nvPr/>
        </p:nvSpPr>
        <p:spPr>
          <a:xfrm>
            <a:off x="6604000" y="4826000"/>
            <a:ext cx="4445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「真の位置」そのものではなく、論文内の参照法であるマーカーベース計測からの差。参照法にも軟部組織アーチファクト等の誤差はある。</a:t>
            </a:r>
          </a:p>
        </p:txBody>
      </p:sp>
    </p:spTree>
    <p:extLst>
      <p:ext uri="{BB962C8B-B14F-4D97-AF65-F5344CB8AC3E}">
        <p14:creationId xmlns:p14="http://schemas.microsoft.com/office/powerpoint/2010/main" val="257617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4C9E53-5FE1-3742-D488-D53E07AAE46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E08929-B1D9-2B50-3E91-C2EC7C9B9775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平均だけでは見えない：上肢ほど誤差が大きい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8628A4-0B50-5F7F-E8AD-F9821D3343E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6932F1-4839-9F33-C447-FD1D810BAF68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22C6CE-760E-0548-4380-AF5EE044B78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826BEF-0221-157D-1CF5-BBD59D1527D1}"/>
              </a:ext>
            </a:extLst>
          </p:cNvPr>
          <p:cNvSpPr txBox="1"/>
          <p:nvPr/>
        </p:nvSpPr>
        <p:spPr>
          <a:xfrm>
            <a:off x="889000" y="16129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1DD322-A139-F025-9043-20D4FA735AFA}"/>
              </a:ext>
            </a:extLst>
          </p:cNvPr>
          <p:cNvSpPr txBox="1"/>
          <p:nvPr/>
        </p:nvSpPr>
        <p:spPr>
          <a:xfrm>
            <a:off x="2413000" y="1612900"/>
            <a:ext cx="25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5B02E4-F96F-BD09-DC3B-B3182C5FB22F}"/>
              </a:ext>
            </a:extLst>
          </p:cNvPr>
          <p:cNvSpPr txBox="1"/>
          <p:nvPr/>
        </p:nvSpPr>
        <p:spPr>
          <a:xfrm>
            <a:off x="4191000" y="1612900"/>
            <a:ext cx="31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C8462-EBA2-2683-68C7-462FC931C231}"/>
              </a:ext>
            </a:extLst>
          </p:cNvPr>
          <p:cNvSpPr txBox="1"/>
          <p:nvPr/>
        </p:nvSpPr>
        <p:spPr>
          <a:xfrm>
            <a:off x="6146800" y="1612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 mm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617A43-0CCE-8A4A-7024-E73C04D6A0A6}"/>
              </a:ext>
            </a:extLst>
          </p:cNvPr>
          <p:cNvSpPr txBox="1"/>
          <p:nvPr/>
        </p:nvSpPr>
        <p:spPr>
          <a:xfrm>
            <a:off x="7493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8D8BC0-12BC-AAD6-899B-64A0EEF78164}"/>
              </a:ext>
            </a:extLst>
          </p:cNvPr>
          <p:cNvSpPr txBox="1"/>
          <p:nvPr/>
        </p:nvSpPr>
        <p:spPr>
          <a:xfrm>
            <a:off x="8890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0B160B-2BC7-3C9E-EB63-146BCF93C9A0}"/>
              </a:ext>
            </a:extLst>
          </p:cNvPr>
          <p:cNvSpPr txBox="1"/>
          <p:nvPr/>
        </p:nvSpPr>
        <p:spPr>
          <a:xfrm>
            <a:off x="889000" y="2082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股関節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653AC-55A0-0EE3-57AD-C40B727EF221}"/>
              </a:ext>
            </a:extLst>
          </p:cNvPr>
          <p:cNvSpPr/>
          <p:nvPr/>
        </p:nvSpPr>
        <p:spPr>
          <a:xfrm>
            <a:off x="2413000" y="2082800"/>
            <a:ext cx="2288286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38FDE5-0155-32A7-D66B-2AE199F2CAC5}"/>
              </a:ext>
            </a:extLst>
          </p:cNvPr>
          <p:cNvSpPr/>
          <p:nvPr/>
        </p:nvSpPr>
        <p:spPr>
          <a:xfrm>
            <a:off x="2413000" y="2247900"/>
            <a:ext cx="216027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1DA196-2791-7A01-ADCA-1F5F4734ECB6}"/>
              </a:ext>
            </a:extLst>
          </p:cNvPr>
          <p:cNvSpPr txBox="1"/>
          <p:nvPr/>
        </p:nvSpPr>
        <p:spPr>
          <a:xfrm>
            <a:off x="7493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42.9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96B34A-885D-2E65-AFB9-B1DE660E7947}"/>
              </a:ext>
            </a:extLst>
          </p:cNvPr>
          <p:cNvSpPr txBox="1"/>
          <p:nvPr/>
        </p:nvSpPr>
        <p:spPr>
          <a:xfrm>
            <a:off x="8890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40.5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1077D7-E971-7F8C-B34D-8B7508DD64D2}"/>
              </a:ext>
            </a:extLst>
          </p:cNvPr>
          <p:cNvSpPr txBox="1"/>
          <p:nvPr/>
        </p:nvSpPr>
        <p:spPr>
          <a:xfrm>
            <a:off x="889000" y="2743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7E28D26-9ADA-420F-E541-A30BD8D59182}"/>
              </a:ext>
            </a:extLst>
          </p:cNvPr>
          <p:cNvSpPr/>
          <p:nvPr/>
        </p:nvSpPr>
        <p:spPr>
          <a:xfrm>
            <a:off x="2413000" y="2743200"/>
            <a:ext cx="283235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1D6D451-3526-45C7-3CBA-F4DFD33E851A}"/>
              </a:ext>
            </a:extLst>
          </p:cNvPr>
          <p:cNvSpPr/>
          <p:nvPr/>
        </p:nvSpPr>
        <p:spPr>
          <a:xfrm>
            <a:off x="2413000" y="2908300"/>
            <a:ext cx="239496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41B12E-8F5D-AE4B-552E-4233A6E98D84}"/>
              </a:ext>
            </a:extLst>
          </p:cNvPr>
          <p:cNvSpPr txBox="1"/>
          <p:nvPr/>
        </p:nvSpPr>
        <p:spPr>
          <a:xfrm>
            <a:off x="7493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53.1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E0D793-2687-8D88-2B16-D1D7D9CE127D}"/>
              </a:ext>
            </a:extLst>
          </p:cNvPr>
          <p:cNvSpPr txBox="1"/>
          <p:nvPr/>
        </p:nvSpPr>
        <p:spPr>
          <a:xfrm>
            <a:off x="8890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44.9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C567AD-C8C3-54B8-BDF0-A2D12110780A}"/>
              </a:ext>
            </a:extLst>
          </p:cNvPr>
          <p:cNvSpPr txBox="1"/>
          <p:nvPr/>
        </p:nvSpPr>
        <p:spPr>
          <a:xfrm>
            <a:off x="889000" y="34036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足関節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B6BEC8-EC56-65FD-3E53-E7FA90BD98D4}"/>
              </a:ext>
            </a:extLst>
          </p:cNvPr>
          <p:cNvSpPr/>
          <p:nvPr/>
        </p:nvSpPr>
        <p:spPr>
          <a:xfrm>
            <a:off x="2413000" y="3403600"/>
            <a:ext cx="288569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B5FCA52-6AD3-DC2E-5DD6-926D8AC7331B}"/>
              </a:ext>
            </a:extLst>
          </p:cNvPr>
          <p:cNvSpPr/>
          <p:nvPr/>
        </p:nvSpPr>
        <p:spPr>
          <a:xfrm>
            <a:off x="2413000" y="3568700"/>
            <a:ext cx="2731008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B063E0C-86C0-E479-EFFE-AEB464F86A53}"/>
              </a:ext>
            </a:extLst>
          </p:cNvPr>
          <p:cNvSpPr txBox="1"/>
          <p:nvPr/>
        </p:nvSpPr>
        <p:spPr>
          <a:xfrm>
            <a:off x="7493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54.1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88FE350-0415-D6D9-4324-06928444F979}"/>
              </a:ext>
            </a:extLst>
          </p:cNvPr>
          <p:cNvSpPr txBox="1"/>
          <p:nvPr/>
        </p:nvSpPr>
        <p:spPr>
          <a:xfrm>
            <a:off x="8890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51.2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964934-A0A2-19D6-366B-73842D8651DA}"/>
              </a:ext>
            </a:extLst>
          </p:cNvPr>
          <p:cNvSpPr txBox="1"/>
          <p:nvPr/>
        </p:nvSpPr>
        <p:spPr>
          <a:xfrm>
            <a:off x="889000" y="40640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4303A4-FC3B-1CD4-73FF-9BB4868A8FED}"/>
              </a:ext>
            </a:extLst>
          </p:cNvPr>
          <p:cNvSpPr/>
          <p:nvPr/>
        </p:nvSpPr>
        <p:spPr>
          <a:xfrm>
            <a:off x="2413000" y="4064000"/>
            <a:ext cx="342976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0438D9F-B779-91E3-CD7B-4924C30893D4}"/>
              </a:ext>
            </a:extLst>
          </p:cNvPr>
          <p:cNvSpPr/>
          <p:nvPr/>
        </p:nvSpPr>
        <p:spPr>
          <a:xfrm>
            <a:off x="2413000" y="4229100"/>
            <a:ext cx="303504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4379BE0-0216-ECA0-13EF-278F11B38EEC}"/>
              </a:ext>
            </a:extLst>
          </p:cNvPr>
          <p:cNvSpPr txBox="1"/>
          <p:nvPr/>
        </p:nvSpPr>
        <p:spPr>
          <a:xfrm>
            <a:off x="7493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64.3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3ADC9FF-1C71-1792-865D-C37D9E8EEBED}"/>
              </a:ext>
            </a:extLst>
          </p:cNvPr>
          <p:cNvSpPr txBox="1"/>
          <p:nvPr/>
        </p:nvSpPr>
        <p:spPr>
          <a:xfrm>
            <a:off x="8890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4CAED83-3738-77A9-691C-D4F7C896E1F3}"/>
              </a:ext>
            </a:extLst>
          </p:cNvPr>
          <p:cNvSpPr txBox="1"/>
          <p:nvPr/>
        </p:nvSpPr>
        <p:spPr>
          <a:xfrm>
            <a:off x="889000" y="47244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845453B-FC1B-7A04-F1AE-92C961F890E7}"/>
              </a:ext>
            </a:extLst>
          </p:cNvPr>
          <p:cNvSpPr/>
          <p:nvPr/>
        </p:nvSpPr>
        <p:spPr>
          <a:xfrm>
            <a:off x="2413000" y="4724400"/>
            <a:ext cx="3957828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78444E0-8987-EB22-0C64-2997BC929325}"/>
              </a:ext>
            </a:extLst>
          </p:cNvPr>
          <p:cNvSpPr/>
          <p:nvPr/>
        </p:nvSpPr>
        <p:spPr>
          <a:xfrm>
            <a:off x="2413000" y="4889500"/>
            <a:ext cx="373380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BF6727B-E76A-567E-3D87-E9BCB4DC9F09}"/>
              </a:ext>
            </a:extLst>
          </p:cNvPr>
          <p:cNvSpPr txBox="1"/>
          <p:nvPr/>
        </p:nvSpPr>
        <p:spPr>
          <a:xfrm>
            <a:off x="7493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74.2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DA15622-D971-D90C-371D-998811F5C2EE}"/>
              </a:ext>
            </a:extLst>
          </p:cNvPr>
          <p:cNvSpPr txBox="1"/>
          <p:nvPr/>
        </p:nvSpPr>
        <p:spPr>
          <a:xfrm>
            <a:off x="8890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70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F88253-FE13-E6C4-B19D-31BA3519B71E}"/>
              </a:ext>
            </a:extLst>
          </p:cNvPr>
          <p:cNvSpPr txBox="1"/>
          <p:nvPr/>
        </p:nvSpPr>
        <p:spPr>
          <a:xfrm>
            <a:off x="889000" y="5384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手首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00FD326-7A97-0653-BFE3-4DEB3EAA895F}"/>
              </a:ext>
            </a:extLst>
          </p:cNvPr>
          <p:cNvSpPr/>
          <p:nvPr/>
        </p:nvSpPr>
        <p:spPr>
          <a:xfrm>
            <a:off x="2413000" y="5384800"/>
            <a:ext cx="382981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DDB6500-34D8-B5AB-94D2-344687B50DB6}"/>
              </a:ext>
            </a:extLst>
          </p:cNvPr>
          <p:cNvSpPr/>
          <p:nvPr/>
        </p:nvSpPr>
        <p:spPr>
          <a:xfrm>
            <a:off x="2413000" y="5549900"/>
            <a:ext cx="3045714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CC48D14-AB31-49C6-1BA2-4C0B67654A0B}"/>
              </a:ext>
            </a:extLst>
          </p:cNvPr>
          <p:cNvSpPr txBox="1"/>
          <p:nvPr/>
        </p:nvSpPr>
        <p:spPr>
          <a:xfrm>
            <a:off x="7493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71.8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64481F6-8112-4503-496E-F472DF960898}"/>
              </a:ext>
            </a:extLst>
          </p:cNvPr>
          <p:cNvSpPr txBox="1"/>
          <p:nvPr/>
        </p:nvSpPr>
        <p:spPr>
          <a:xfrm>
            <a:off x="8890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57.1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58B5D3B-0CAD-7962-26C7-FED0D9AE70F3}"/>
              </a:ext>
            </a:extLst>
          </p:cNvPr>
          <p:cNvSpPr/>
          <p:nvPr/>
        </p:nvSpPr>
        <p:spPr>
          <a:xfrm>
            <a:off x="9969500" y="2032000"/>
            <a:ext cx="1714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BB5D20A-68EA-74DB-0E60-AB72A29A2667}"/>
              </a:ext>
            </a:extLst>
          </p:cNvPr>
          <p:cNvSpPr/>
          <p:nvPr/>
        </p:nvSpPr>
        <p:spPr>
          <a:xfrm>
            <a:off x="9969500" y="2032000"/>
            <a:ext cx="88900" cy="38100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77B713E-D49E-1CA6-9937-DB400279E9A1}"/>
              </a:ext>
            </a:extLst>
          </p:cNvPr>
          <p:cNvSpPr txBox="1"/>
          <p:nvPr/>
        </p:nvSpPr>
        <p:spPr>
          <a:xfrm>
            <a:off x="10223500" y="2222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読み方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3C97E4-1682-62FB-EBF3-137E98546140}"/>
              </a:ext>
            </a:extLst>
          </p:cNvPr>
          <p:cNvSpPr txBox="1"/>
          <p:nvPr/>
        </p:nvSpPr>
        <p:spPr>
          <a:xfrm>
            <a:off x="10223500" y="2654300"/>
            <a:ext cx="1270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「全身で約</a:t>
            </a:r>
            <a:r>
              <a:rPr kumimoji="1" lang="en-US" altLang="ja-JP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cm</a:t>
            </a:r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」だけでは不十分。打撃で重要な肘・手首は平均より大きい。部位別に評価する。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39690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7B251A9-3F16-45F3-B18D-EBA96F0F585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lum bright="16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t="17007" r="5003" b="12005"/>
          <a:stretch>
            <a:fillRect/>
          </a:stretch>
        </p:blipFill>
        <p:spPr>
          <a:xfrm>
            <a:off x="1206500" y="1524000"/>
            <a:ext cx="4180339" cy="4826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BE63CD-EC30-24FB-3F14-6974AA349D8A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05A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15A91D-1ACF-25FF-F471-B03F5352D97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論文原図：下肢の関節位置誤差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BAF93B-1667-910C-AD14-DEDDC985997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DCF504-153D-2DBE-5A0C-FB727AAF6440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F2EC8B-B2F0-0DBE-1DCD-B566A4D99B01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股関節・膝・足関節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D5E48D-45A1-983D-7096-D6889FFF2387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各列が関節、各段が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X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Y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Z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方向および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3D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位置誤差を示す。原図を拡大して確認する。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E886EC-2C9B-F49F-A807-4C4609924EBB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3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41941-2987-3BD9-43D2-F4B0A8FCEE97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7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05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312773B-7CD0-4E06-0692-760B2298516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lum bright="16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t="18007" r="5003" b="12005"/>
          <a:stretch>
            <a:fillRect/>
          </a:stretch>
        </p:blipFill>
        <p:spPr>
          <a:xfrm>
            <a:off x="1206500" y="1524000"/>
            <a:ext cx="4240090" cy="4826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115CC2-E640-72AB-09C1-6BC7B71DD2BE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05B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79271D-B25B-D665-A05C-43B16287F439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論文原図：上肢の関節位置誤差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A3C1BE-1A94-9994-7BD2-0B585195E9E9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4B2CE40-9DB1-5DAD-23A0-B4F3F0013724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7B3D2F-A5F6-DA4C-0A20-2C35B0B63D50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肩・肘・手首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8855C1-4D3A-6CFD-2D9B-5F070B11A7B5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上肢、とくに肘・手首の誤差が大きいことを示す原図。数値の説明は前のスライドと対応する。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E05B73-E37B-CD55-DF1B-CA77D3360DF9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4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4DB669-CF8F-7DF8-8E3C-2594EC2612CB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8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43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AADB65-1657-F8D4-5DCB-EE9C1BAD6A90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ANALYSIS PIPELINE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EEB47B-A4D4-E0D7-C47E-2536F4A923A7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精度評価は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だけで終わらない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0F1D0E-4419-EE65-3D16-1D03A244428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B846E-E167-A77D-7D51-E3D8A3C0C62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1FBA80-7662-77C5-65BC-3379B34796F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9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DF0085-9F29-C176-3D97-21F20A18352F}"/>
              </a:ext>
            </a:extLst>
          </p:cNvPr>
          <p:cNvSpPr/>
          <p:nvPr/>
        </p:nvSpPr>
        <p:spPr>
          <a:xfrm>
            <a:off x="6350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4D5DA7-DAD3-1E39-6BB1-A56C199C8964}"/>
              </a:ext>
            </a:extLst>
          </p:cNvPr>
          <p:cNvSpPr txBox="1"/>
          <p:nvPr/>
        </p:nvSpPr>
        <p:spPr>
          <a:xfrm>
            <a:off x="8255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0641524-FA6D-90AE-DD67-6FED7066958D}"/>
              </a:ext>
            </a:extLst>
          </p:cNvPr>
          <p:cNvSpPr/>
          <p:nvPr/>
        </p:nvSpPr>
        <p:spPr>
          <a:xfrm>
            <a:off x="762000" y="2095500"/>
            <a:ext cx="482600" cy="482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A8671-AF17-0A78-DDAD-2636693CAAB7}"/>
              </a:ext>
            </a:extLst>
          </p:cNvPr>
          <p:cNvSpPr txBox="1"/>
          <p:nvPr/>
        </p:nvSpPr>
        <p:spPr>
          <a:xfrm>
            <a:off x="7620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133D02-BA2C-22F3-4293-16305F846696}"/>
              </a:ext>
            </a:extLst>
          </p:cNvPr>
          <p:cNvSpPr txBox="1"/>
          <p:nvPr/>
        </p:nvSpPr>
        <p:spPr>
          <a:xfrm>
            <a:off x="8890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9343DD-5403-F8B8-1A44-4BB1E12E477C}"/>
              </a:ext>
            </a:extLst>
          </p:cNvPr>
          <p:cNvSpPr txBox="1"/>
          <p:nvPr/>
        </p:nvSpPr>
        <p:spPr>
          <a:xfrm>
            <a:off x="8509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位置の差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40D80-8B1E-F08B-7294-C63BED929BD3}"/>
              </a:ext>
            </a:extLst>
          </p:cNvPr>
          <p:cNvSpPr txBox="1"/>
          <p:nvPr/>
        </p:nvSpPr>
        <p:spPr>
          <a:xfrm>
            <a:off x="8509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mm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48D8C3B-E490-B788-4407-A3E8D68D113B}"/>
              </a:ext>
            </a:extLst>
          </p:cNvPr>
          <p:cNvCxnSpPr/>
          <p:nvPr/>
        </p:nvCxnSpPr>
        <p:spPr>
          <a:xfrm>
            <a:off x="27432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9CCA6D-2EC7-3F6D-4CA9-B0B7FF13E17C}"/>
              </a:ext>
            </a:extLst>
          </p:cNvPr>
          <p:cNvSpPr/>
          <p:nvPr/>
        </p:nvSpPr>
        <p:spPr>
          <a:xfrm>
            <a:off x="28956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316B5-E4E9-6C23-C573-D6F6E2444DF8}"/>
              </a:ext>
            </a:extLst>
          </p:cNvPr>
          <p:cNvSpPr txBox="1"/>
          <p:nvPr/>
        </p:nvSpPr>
        <p:spPr>
          <a:xfrm>
            <a:off x="30861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B8FAFBB-C21F-68C2-48FE-D27EA50D8F66}"/>
              </a:ext>
            </a:extLst>
          </p:cNvPr>
          <p:cNvSpPr/>
          <p:nvPr/>
        </p:nvSpPr>
        <p:spPr>
          <a:xfrm>
            <a:off x="3022600" y="2095500"/>
            <a:ext cx="482600" cy="482600"/>
          </a:xfrm>
          <a:prstGeom prst="ellipse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7F5858-7FF5-0AC8-6FFF-A3BE3F6C29EF}"/>
              </a:ext>
            </a:extLst>
          </p:cNvPr>
          <p:cNvSpPr txBox="1"/>
          <p:nvPr/>
        </p:nvSpPr>
        <p:spPr>
          <a:xfrm>
            <a:off x="30226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DDCD10-B173-2654-840D-A0FBE518130B}"/>
              </a:ext>
            </a:extLst>
          </p:cNvPr>
          <p:cNvSpPr txBox="1"/>
          <p:nvPr/>
        </p:nvSpPr>
        <p:spPr>
          <a:xfrm>
            <a:off x="31496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0FCF79-AA82-3B78-8767-88676C0F22DC}"/>
              </a:ext>
            </a:extLst>
          </p:cNvPr>
          <p:cNvSpPr txBox="1"/>
          <p:nvPr/>
        </p:nvSpPr>
        <p:spPr>
          <a:xfrm>
            <a:off x="31115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角度・角速度の差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EFBE1D-C744-8DBB-AC42-C5B1B778369F}"/>
              </a:ext>
            </a:extLst>
          </p:cNvPr>
          <p:cNvSpPr txBox="1"/>
          <p:nvPr/>
        </p:nvSpPr>
        <p:spPr>
          <a:xfrm>
            <a:off x="31115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 / deg·s⁻¹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1A023BB-789E-047A-2E95-749BEF943B0D}"/>
              </a:ext>
            </a:extLst>
          </p:cNvPr>
          <p:cNvCxnSpPr/>
          <p:nvPr/>
        </p:nvCxnSpPr>
        <p:spPr>
          <a:xfrm>
            <a:off x="50038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5C0B703-6183-3479-014A-8F12F49B4A4E}"/>
              </a:ext>
            </a:extLst>
          </p:cNvPr>
          <p:cNvSpPr/>
          <p:nvPr/>
        </p:nvSpPr>
        <p:spPr>
          <a:xfrm>
            <a:off x="51562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91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9D5A6C-10E3-C1D4-EFDE-5E86C0998134}"/>
              </a:ext>
            </a:extLst>
          </p:cNvPr>
          <p:cNvSpPr txBox="1"/>
          <p:nvPr/>
        </p:nvSpPr>
        <p:spPr>
          <a:xfrm>
            <a:off x="53467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3DFD90B-4E84-0C8C-4817-2A85F0B5EFB0}"/>
              </a:ext>
            </a:extLst>
          </p:cNvPr>
          <p:cNvSpPr/>
          <p:nvPr/>
        </p:nvSpPr>
        <p:spPr>
          <a:xfrm>
            <a:off x="5283200" y="2095500"/>
            <a:ext cx="482600" cy="4826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AB4B01-6A3A-FB79-39BB-B3DC9A54CFF2}"/>
              </a:ext>
            </a:extLst>
          </p:cNvPr>
          <p:cNvSpPr txBox="1"/>
          <p:nvPr/>
        </p:nvSpPr>
        <p:spPr>
          <a:xfrm>
            <a:off x="52832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7BE51B4-EFD0-4C54-14C8-6DF98AC634AC}"/>
              </a:ext>
            </a:extLst>
          </p:cNvPr>
          <p:cNvSpPr txBox="1"/>
          <p:nvPr/>
        </p:nvSpPr>
        <p:spPr>
          <a:xfrm>
            <a:off x="54102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</a:t>
            </a:r>
            <a:endParaRPr kumimoji="1" lang="ja-JP" altLang="en-US" b="1">
              <a:solidFill>
                <a:srgbClr val="41916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0D3C8AB-BF2B-7A79-34E8-900B23A5A77A}"/>
              </a:ext>
            </a:extLst>
          </p:cNvPr>
          <p:cNvSpPr txBox="1"/>
          <p:nvPr/>
        </p:nvSpPr>
        <p:spPr>
          <a:xfrm>
            <a:off x="53721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波形のどの局面で差が出るか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2338144-2001-B3A9-69C9-1DD7F2D03B09}"/>
              </a:ext>
            </a:extLst>
          </p:cNvPr>
          <p:cNvSpPr txBox="1"/>
          <p:nvPr/>
        </p:nvSpPr>
        <p:spPr>
          <a:xfrm>
            <a:off x="53721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時系列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0945341-2B9E-F8DB-794F-A539FBF802DF}"/>
              </a:ext>
            </a:extLst>
          </p:cNvPr>
          <p:cNvCxnSpPr/>
          <p:nvPr/>
        </p:nvCxnSpPr>
        <p:spPr>
          <a:xfrm>
            <a:off x="72644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5B89B16-E744-54E5-8D54-86489D1E0DF7}"/>
              </a:ext>
            </a:extLst>
          </p:cNvPr>
          <p:cNvSpPr/>
          <p:nvPr/>
        </p:nvSpPr>
        <p:spPr>
          <a:xfrm>
            <a:off x="74168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61EAACB-47B1-0F01-2BD9-DC02980E5F95}"/>
              </a:ext>
            </a:extLst>
          </p:cNvPr>
          <p:cNvSpPr txBox="1"/>
          <p:nvPr/>
        </p:nvSpPr>
        <p:spPr>
          <a:xfrm>
            <a:off x="76073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AD9C9CD-6F7C-1799-E1B1-3E955D4E7EB7}"/>
              </a:ext>
            </a:extLst>
          </p:cNvPr>
          <p:cNvSpPr/>
          <p:nvPr/>
        </p:nvSpPr>
        <p:spPr>
          <a:xfrm>
            <a:off x="7543800" y="2095500"/>
            <a:ext cx="482600" cy="482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C48CA7E-697F-7ED6-9CEF-D9C1C6847C08}"/>
              </a:ext>
            </a:extLst>
          </p:cNvPr>
          <p:cNvSpPr txBox="1"/>
          <p:nvPr/>
        </p:nvSpPr>
        <p:spPr>
          <a:xfrm>
            <a:off x="75438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E0F741-9126-98B8-ADF8-1ED5F7A2FA35}"/>
              </a:ext>
            </a:extLst>
          </p:cNvPr>
          <p:cNvSpPr txBox="1"/>
          <p:nvPr/>
        </p:nvSpPr>
        <p:spPr>
          <a:xfrm>
            <a:off x="76708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Bland–Altman</a:t>
            </a:r>
            <a:endParaRPr kumimoji="1" lang="ja-JP" altLang="en-US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E728C8-EDB0-6809-19C0-0939122AC202}"/>
              </a:ext>
            </a:extLst>
          </p:cNvPr>
          <p:cNvSpPr txBox="1"/>
          <p:nvPr/>
        </p:nvSpPr>
        <p:spPr>
          <a:xfrm>
            <a:off x="76327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系統誤差と一致限界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0616D9-56AD-670B-7723-34A2A0F1A8E2}"/>
              </a:ext>
            </a:extLst>
          </p:cNvPr>
          <p:cNvSpPr txBox="1"/>
          <p:nvPr/>
        </p:nvSpPr>
        <p:spPr>
          <a:xfrm>
            <a:off x="76327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bias / LoA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08EB69-8128-D674-CA90-ADE2EB5D3CFC}"/>
              </a:ext>
            </a:extLst>
          </p:cNvPr>
          <p:cNvCxnSpPr/>
          <p:nvPr/>
        </p:nvCxnSpPr>
        <p:spPr>
          <a:xfrm>
            <a:off x="95250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2FFECF0-1D08-4FE5-2D63-43FFEDE52B25}"/>
              </a:ext>
            </a:extLst>
          </p:cNvPr>
          <p:cNvSpPr/>
          <p:nvPr/>
        </p:nvSpPr>
        <p:spPr>
          <a:xfrm>
            <a:off x="96774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89C719-5C56-0BAF-62B0-1C1E88775F6B}"/>
              </a:ext>
            </a:extLst>
          </p:cNvPr>
          <p:cNvSpPr txBox="1"/>
          <p:nvPr/>
        </p:nvSpPr>
        <p:spPr>
          <a:xfrm>
            <a:off x="98679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E53D141-567A-E821-64EF-174A595FD3A9}"/>
              </a:ext>
            </a:extLst>
          </p:cNvPr>
          <p:cNvSpPr/>
          <p:nvPr/>
        </p:nvSpPr>
        <p:spPr>
          <a:xfrm>
            <a:off x="9804400" y="2095500"/>
            <a:ext cx="482600" cy="482600"/>
          </a:xfrm>
          <a:prstGeom prst="ellipse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E92B30-4638-2549-1CAE-D522C69A5600}"/>
              </a:ext>
            </a:extLst>
          </p:cNvPr>
          <p:cNvSpPr txBox="1"/>
          <p:nvPr/>
        </p:nvSpPr>
        <p:spPr>
          <a:xfrm>
            <a:off x="98044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3F66F70-7E21-6D7C-830E-6BD0EAC4C4C7}"/>
              </a:ext>
            </a:extLst>
          </p:cNvPr>
          <p:cNvSpPr txBox="1"/>
          <p:nvPr/>
        </p:nvSpPr>
        <p:spPr>
          <a:xfrm>
            <a:off x="99314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</a:t>
            </a:r>
            <a:endParaRPr kumimoji="1" lang="ja-JP" altLang="en-US" b="1">
              <a:solidFill>
                <a:srgbClr val="CC494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6FB24E-54DD-C894-7F20-86BC5ED28D6D}"/>
              </a:ext>
            </a:extLst>
          </p:cNvPr>
          <p:cNvSpPr txBox="1"/>
          <p:nvPr/>
        </p:nvSpPr>
        <p:spPr>
          <a:xfrm>
            <a:off x="98933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離散値の一致度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309635E-87C4-85EE-7331-0A8052A42031}"/>
              </a:ext>
            </a:extLst>
          </p:cNvPr>
          <p:cNvSpPr txBox="1"/>
          <p:nvPr/>
        </p:nvSpPr>
        <p:spPr>
          <a:xfrm>
            <a:off x="98933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−</a:t>
            </a:r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1〜1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F31ED2A-8D82-9770-ED9F-52C4190C8694}"/>
              </a:ext>
            </a:extLst>
          </p:cNvPr>
          <p:cNvSpPr txBox="1"/>
          <p:nvPr/>
        </p:nvSpPr>
        <p:spPr>
          <a:xfrm>
            <a:off x="1460500" y="54610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前処理：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次・ゼロ位相・往復 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Butterworth 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フィルタ（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7A031C8-F150-A65E-4AB1-98A760AF0E8B}"/>
              </a:ext>
            </a:extLst>
          </p:cNvPr>
          <p:cNvSpPr txBox="1"/>
          <p:nvPr/>
        </p:nvSpPr>
        <p:spPr>
          <a:xfrm>
            <a:off x="2159000" y="59690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は参考値。自分の撮影条件では遮断周波数の感度分析が必要。</a:t>
            </a:r>
          </a:p>
        </p:txBody>
      </p:sp>
    </p:spTree>
    <p:extLst>
      <p:ext uri="{BB962C8B-B14F-4D97-AF65-F5344CB8AC3E}">
        <p14:creationId xmlns:p14="http://schemas.microsoft.com/office/powerpoint/2010/main" val="415249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588008-853C-5DED-0836-1D0AFECD7D32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913B8-7A2F-D75E-CD07-64C0FEEEBF94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位置が近くても、動きの波形が正しいとは限らない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0D9D66-0B7F-0250-7FF1-927B42A32CF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6D6BC8-D562-2A07-0445-C6829191C8C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096938-C5E3-3350-3C0C-15A18F81C79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902144-A5FB-C744-2FBD-9B45AF23E44E}"/>
              </a:ext>
            </a:extLst>
          </p:cNvPr>
          <p:cNvSpPr txBox="1"/>
          <p:nvPr/>
        </p:nvSpPr>
        <p:spPr>
          <a:xfrm>
            <a:off x="838200" y="16510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sz="17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AE6C99-1D15-EA08-6E0C-CF70E247C68B}"/>
              </a:ext>
            </a:extLst>
          </p:cNvPr>
          <p:cNvSpPr txBox="1"/>
          <p:nvPr/>
        </p:nvSpPr>
        <p:spPr>
          <a:xfrm>
            <a:off x="75565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EEA669-275D-DC30-30D5-83ABEAFA5215}"/>
              </a:ext>
            </a:extLst>
          </p:cNvPr>
          <p:cNvSpPr txBox="1"/>
          <p:nvPr/>
        </p:nvSpPr>
        <p:spPr>
          <a:xfrm>
            <a:off x="90170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6408BE-D47F-D3F4-8B75-21312EAE95D0}"/>
              </a:ext>
            </a:extLst>
          </p:cNvPr>
          <p:cNvSpPr/>
          <p:nvPr/>
        </p:nvSpPr>
        <p:spPr>
          <a:xfrm>
            <a:off x="787400" y="2159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21CDF2-9772-AE25-1AAE-A3FD935DE2B3}"/>
              </a:ext>
            </a:extLst>
          </p:cNvPr>
          <p:cNvSpPr txBox="1"/>
          <p:nvPr/>
        </p:nvSpPr>
        <p:spPr>
          <a:xfrm>
            <a:off x="1041400" y="2336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膝関節角度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CDED19-A4BF-0C23-4BB3-BD9B6B2D3B89}"/>
              </a:ext>
            </a:extLst>
          </p:cNvPr>
          <p:cNvSpPr txBox="1"/>
          <p:nvPr/>
        </p:nvSpPr>
        <p:spPr>
          <a:xfrm>
            <a:off x="4635500" y="2362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8262FA-673D-D506-2351-53C443D9FBD2}"/>
              </a:ext>
            </a:extLst>
          </p:cNvPr>
          <p:cNvSpPr txBox="1"/>
          <p:nvPr/>
        </p:nvSpPr>
        <p:spPr>
          <a:xfrm>
            <a:off x="76200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6.1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CA9B8B-52B9-77A5-59F1-DF57E84C11EB}"/>
              </a:ext>
            </a:extLst>
          </p:cNvPr>
          <p:cNvSpPr txBox="1"/>
          <p:nvPr/>
        </p:nvSpPr>
        <p:spPr>
          <a:xfrm>
            <a:off x="90805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2.2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B70CC6-63B0-991E-D44E-AA9CADA13425}"/>
              </a:ext>
            </a:extLst>
          </p:cNvPr>
          <p:cNvSpPr/>
          <p:nvPr/>
        </p:nvSpPr>
        <p:spPr>
          <a:xfrm>
            <a:off x="787400" y="3048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2AB715-709A-7F4A-B163-4838382C4F73}"/>
              </a:ext>
            </a:extLst>
          </p:cNvPr>
          <p:cNvSpPr txBox="1"/>
          <p:nvPr/>
        </p:nvSpPr>
        <p:spPr>
          <a:xfrm>
            <a:off x="1041400" y="3225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zh-TW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骨盤回旋角度</a:t>
            </a:r>
            <a:endParaRPr kumimoji="1" lang="ja-JP" altLang="en-US" sz="17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CE904-3482-080B-261C-8AC2CF43C95C}"/>
              </a:ext>
            </a:extLst>
          </p:cNvPr>
          <p:cNvSpPr txBox="1"/>
          <p:nvPr/>
        </p:nvSpPr>
        <p:spPr>
          <a:xfrm>
            <a:off x="4635500" y="3251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298E33-5A4A-A5CA-7275-F315E13C26F8}"/>
              </a:ext>
            </a:extLst>
          </p:cNvPr>
          <p:cNvSpPr txBox="1"/>
          <p:nvPr/>
        </p:nvSpPr>
        <p:spPr>
          <a:xfrm>
            <a:off x="76200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6.8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8E98E4-47B7-8654-A156-10BC46180BA2}"/>
              </a:ext>
            </a:extLst>
          </p:cNvPr>
          <p:cNvSpPr txBox="1"/>
          <p:nvPr/>
        </p:nvSpPr>
        <p:spPr>
          <a:xfrm>
            <a:off x="90805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3.4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4289DC-94EB-4CC4-D9A5-CE89A6449F1F}"/>
              </a:ext>
            </a:extLst>
          </p:cNvPr>
          <p:cNvSpPr/>
          <p:nvPr/>
        </p:nvSpPr>
        <p:spPr>
          <a:xfrm>
            <a:off x="787400" y="3937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6E2174-3C5D-05F2-D5E2-F27CC4502CD3}"/>
              </a:ext>
            </a:extLst>
          </p:cNvPr>
          <p:cNvSpPr txBox="1"/>
          <p:nvPr/>
        </p:nvSpPr>
        <p:spPr>
          <a:xfrm>
            <a:off x="1041400" y="4114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肩外旋角度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21C48E-2059-E244-9DCB-8404287D5319}"/>
              </a:ext>
            </a:extLst>
          </p:cNvPr>
          <p:cNvSpPr txBox="1"/>
          <p:nvPr/>
        </p:nvSpPr>
        <p:spPr>
          <a:xfrm>
            <a:off x="4635500" y="4140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F29BD9-EA13-36B6-05C2-6B1CAB85F053}"/>
              </a:ext>
            </a:extLst>
          </p:cNvPr>
          <p:cNvSpPr txBox="1"/>
          <p:nvPr/>
        </p:nvSpPr>
        <p:spPr>
          <a:xfrm>
            <a:off x="76200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15.4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BA59D0-DC61-DEEC-6D99-29DC106B2AF9}"/>
              </a:ext>
            </a:extLst>
          </p:cNvPr>
          <p:cNvSpPr txBox="1"/>
          <p:nvPr/>
        </p:nvSpPr>
        <p:spPr>
          <a:xfrm>
            <a:off x="90805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16.5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8AF36B-8A80-E00A-7280-028B53EEAC87}"/>
              </a:ext>
            </a:extLst>
          </p:cNvPr>
          <p:cNvSpPr/>
          <p:nvPr/>
        </p:nvSpPr>
        <p:spPr>
          <a:xfrm>
            <a:off x="787400" y="4826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9349C9C-550E-115E-1E67-30C9384316B9}"/>
              </a:ext>
            </a:extLst>
          </p:cNvPr>
          <p:cNvSpPr txBox="1"/>
          <p:nvPr/>
        </p:nvSpPr>
        <p:spPr>
          <a:xfrm>
            <a:off x="1041400" y="5003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肩回旋角速度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AEF0AE8-3DF0-8992-7337-52BB081F6146}"/>
              </a:ext>
            </a:extLst>
          </p:cNvPr>
          <p:cNvSpPr txBox="1"/>
          <p:nvPr/>
        </p:nvSpPr>
        <p:spPr>
          <a:xfrm>
            <a:off x="4635500" y="5029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deg/s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D11913C-17D9-2475-7A55-956371638572}"/>
              </a:ext>
            </a:extLst>
          </p:cNvPr>
          <p:cNvSpPr txBox="1"/>
          <p:nvPr/>
        </p:nvSpPr>
        <p:spPr>
          <a:xfrm>
            <a:off x="76200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407.9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87E1503-2C7F-478B-BA8F-84558861FCD9}"/>
              </a:ext>
            </a:extLst>
          </p:cNvPr>
          <p:cNvSpPr txBox="1"/>
          <p:nvPr/>
        </p:nvSpPr>
        <p:spPr>
          <a:xfrm>
            <a:off x="90805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117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8902F6-FDF3-9CCF-9497-D39FA376EE3A}"/>
              </a:ext>
            </a:extLst>
          </p:cNvPr>
          <p:cNvSpPr txBox="1"/>
          <p:nvPr/>
        </p:nvSpPr>
        <p:spPr>
          <a:xfrm>
            <a:off x="1041400" y="5854700"/>
            <a:ext cx="1003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数値微分はノイズと同期ずれを増幅する。位置精度 → 角度 → 角速度の順に検証する。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48421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BBF536-2D77-369E-0CF8-6B84F866C8A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LIMITATIONS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60757E-1410-BBE6-8D7B-E03A952E3BA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この論文の限界は、自分の研究の背景になる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12052F-30D2-951B-F3B8-F7D108A77E4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143026-F0ED-A460-D173-DDB46F32BF4E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C33F46-08AC-B157-9CE2-2090809DAD9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54A694-89E9-234E-D827-5DD6071BC614}"/>
              </a:ext>
            </a:extLst>
          </p:cNvPr>
          <p:cNvSpPr/>
          <p:nvPr/>
        </p:nvSpPr>
        <p:spPr>
          <a:xfrm>
            <a:off x="6096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5DA9E2-9F30-73CB-F172-312DDFFBF6EE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5502B0-2A11-EDE8-D76A-30C00AA28FAC}"/>
              </a:ext>
            </a:extLst>
          </p:cNvPr>
          <p:cNvSpPr txBox="1"/>
          <p:nvPr/>
        </p:nvSpPr>
        <p:spPr>
          <a:xfrm>
            <a:off x="8636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対象の限定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1BCD7E-3D46-E37E-A484-B1C3A6300767}"/>
              </a:ext>
            </a:extLst>
          </p:cNvPr>
          <p:cNvSpPr txBox="1"/>
          <p:nvPr/>
        </p:nvSpPr>
        <p:spPr>
          <a:xfrm>
            <a:off x="8636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男子大学投手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名の速球。打撃、女子、ジュニア、低速動作へ直接一般化できない。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750AD4E-6F84-A223-5E1B-CBFAC12A189E}"/>
              </a:ext>
            </a:extLst>
          </p:cNvPr>
          <p:cNvSpPr/>
          <p:nvPr/>
        </p:nvSpPr>
        <p:spPr>
          <a:xfrm>
            <a:off x="43815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05B98C-4347-0765-3B45-6E9A84C1AFD9}"/>
              </a:ext>
            </a:extLst>
          </p:cNvPr>
          <p:cNvSpPr/>
          <p:nvPr/>
        </p:nvSpPr>
        <p:spPr>
          <a:xfrm>
            <a:off x="4381500" y="1676400"/>
            <a:ext cx="88900" cy="184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CF1F4E-FD6F-D300-1CDD-086425226C51}"/>
              </a:ext>
            </a:extLst>
          </p:cNvPr>
          <p:cNvSpPr txBox="1"/>
          <p:nvPr/>
        </p:nvSpPr>
        <p:spPr>
          <a:xfrm>
            <a:off x="46355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システム差の混在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5A66375-E2F1-BD6A-090E-9C2B92B01758}"/>
              </a:ext>
            </a:extLst>
          </p:cNvPr>
          <p:cNvSpPr txBox="1"/>
          <p:nvPr/>
        </p:nvSpPr>
        <p:spPr>
          <a:xfrm>
            <a:off x="46355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カメラ台数・配置・距離・推定モデルが異なり、どの要因が誤差を生んだか分離できない。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CFCDA70-32C8-514F-71D6-055F097C29FC}"/>
              </a:ext>
            </a:extLst>
          </p:cNvPr>
          <p:cNvSpPr/>
          <p:nvPr/>
        </p:nvSpPr>
        <p:spPr>
          <a:xfrm>
            <a:off x="81534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5FFBCC1-6EB4-4659-CD81-77DE724BA081}"/>
              </a:ext>
            </a:extLst>
          </p:cNvPr>
          <p:cNvSpPr/>
          <p:nvPr/>
        </p:nvSpPr>
        <p:spPr>
          <a:xfrm>
            <a:off x="8153400" y="1676400"/>
            <a:ext cx="88900" cy="184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95F013-4CD3-9CF0-21E3-0E81387DEF99}"/>
              </a:ext>
            </a:extLst>
          </p:cNvPr>
          <p:cNvSpPr txBox="1"/>
          <p:nvPr/>
        </p:nvSpPr>
        <p:spPr>
          <a:xfrm>
            <a:off x="84074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参照法も完全ではない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8B8175-8766-87FD-B0D2-4353014EBB12}"/>
              </a:ext>
            </a:extLst>
          </p:cNvPr>
          <p:cNvSpPr txBox="1"/>
          <p:nvPr/>
        </p:nvSpPr>
        <p:spPr>
          <a:xfrm>
            <a:off x="84074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マーカーベースにも軟部組織アーチファクトや関節中心推定の誤差がある。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3442EAC-3D2A-0CF2-718E-5470DFE19BA2}"/>
              </a:ext>
            </a:extLst>
          </p:cNvPr>
          <p:cNvSpPr/>
          <p:nvPr/>
        </p:nvSpPr>
        <p:spPr>
          <a:xfrm>
            <a:off x="24892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8E21C4-92BF-1C2F-0DC4-D49C8EB49FCF}"/>
              </a:ext>
            </a:extLst>
          </p:cNvPr>
          <p:cNvSpPr/>
          <p:nvPr/>
        </p:nvSpPr>
        <p:spPr>
          <a:xfrm>
            <a:off x="2489200" y="3962400"/>
            <a:ext cx="88900" cy="1841500"/>
          </a:xfrm>
          <a:prstGeom prst="rect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7AD3ED-BF40-5A96-FF64-18E1FB9584D1}"/>
              </a:ext>
            </a:extLst>
          </p:cNvPr>
          <p:cNvSpPr txBox="1"/>
          <p:nvPr/>
        </p:nvSpPr>
        <p:spPr>
          <a:xfrm>
            <a:off x="27432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高速上肢が弱い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281823-B8A0-A0E5-BE22-E40D8131BBB3}"/>
              </a:ext>
            </a:extLst>
          </p:cNvPr>
          <p:cNvSpPr txBox="1"/>
          <p:nvPr/>
        </p:nvSpPr>
        <p:spPr>
          <a:xfrm>
            <a:off x="27432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肘・手首の誤差が大きく、遮蔽・ブレ・遠位部の推定が課題になる。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DADC69E-EEA3-B842-5800-C2DEFA1F9941}"/>
              </a:ext>
            </a:extLst>
          </p:cNvPr>
          <p:cNvSpPr/>
          <p:nvPr/>
        </p:nvSpPr>
        <p:spPr>
          <a:xfrm>
            <a:off x="62611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3CEC871-7C7D-171C-14C7-774D4CCB1C72}"/>
              </a:ext>
            </a:extLst>
          </p:cNvPr>
          <p:cNvSpPr/>
          <p:nvPr/>
        </p:nvSpPr>
        <p:spPr>
          <a:xfrm>
            <a:off x="6261100" y="3962400"/>
            <a:ext cx="88900" cy="18415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C8CB195-6768-6D1D-1DBB-8C824CB126EE}"/>
              </a:ext>
            </a:extLst>
          </p:cNvPr>
          <p:cNvSpPr txBox="1"/>
          <p:nvPr/>
        </p:nvSpPr>
        <p:spPr>
          <a:xfrm>
            <a:off x="65151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バットは評価外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8122BF7-AA04-C0D7-B63F-8EFCCAEC3254}"/>
              </a:ext>
            </a:extLst>
          </p:cNvPr>
          <p:cNvSpPr txBox="1"/>
          <p:nvPr/>
        </p:nvSpPr>
        <p:spPr>
          <a:xfrm>
            <a:off x="65151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人体骨格の検証であり、バット軌道・インパクト時刻・バット速度は保証されない。</a:t>
            </a:r>
          </a:p>
        </p:txBody>
      </p:sp>
    </p:spTree>
    <p:extLst>
      <p:ext uri="{BB962C8B-B14F-4D97-AF65-F5344CB8AC3E}">
        <p14:creationId xmlns:p14="http://schemas.microsoft.com/office/powerpoint/2010/main" val="260384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6B7764-D527-2693-B3A7-AB0E139AAC9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CONNECTION TO MY STUDY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8D3340-D427-14D8-CF28-C3E07C8D2086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自分の研究では、何を借りて何を解決するか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B91CB9-FD8F-4D8F-3611-7422DE8616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CFEA62-2F10-6121-8C4E-6A81D53042C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160277-82E2-9093-6BA2-47BF94454A6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7B4038-ED5C-EA76-A8E0-379425A82FE9}"/>
              </a:ext>
            </a:extLst>
          </p:cNvPr>
          <p:cNvSpPr/>
          <p:nvPr/>
        </p:nvSpPr>
        <p:spPr>
          <a:xfrm>
            <a:off x="635000" y="1651000"/>
            <a:ext cx="5080000" cy="4064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EE3DEB-4ED4-43EE-DBBE-696260159EAE}"/>
              </a:ext>
            </a:extLst>
          </p:cNvPr>
          <p:cNvSpPr txBox="1"/>
          <p:nvPr/>
        </p:nvSpPr>
        <p:spPr>
          <a:xfrm>
            <a:off x="990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この論文から借りるもの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18A469-5A37-7273-8F9D-6609EAB916E6}"/>
              </a:ext>
            </a:extLst>
          </p:cNvPr>
          <p:cNvSpPr txBox="1"/>
          <p:nvPr/>
        </p:nvSpPr>
        <p:spPr>
          <a:xfrm>
            <a:off x="1117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同時計測による参照系との比較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部位別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
• Bland–Altman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フィルタ条件の明示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68D9F8-3F8D-D933-9248-0578C4A26547}"/>
              </a:ext>
            </a:extLst>
          </p:cNvPr>
          <p:cNvSpPr/>
          <p:nvPr/>
        </p:nvSpPr>
        <p:spPr>
          <a:xfrm>
            <a:off x="6477000" y="1651000"/>
            <a:ext cx="5080000" cy="4064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6E6A59-450F-EF00-C5E3-C45DABBBD0B8}"/>
              </a:ext>
            </a:extLst>
          </p:cNvPr>
          <p:cNvSpPr txBox="1"/>
          <p:nvPr/>
        </p:nvSpPr>
        <p:spPr>
          <a:xfrm>
            <a:off x="6832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自分の研究で解決するもの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1A53A1-3B21-8A25-6E10-C926AD30F816}"/>
              </a:ext>
            </a:extLst>
          </p:cNvPr>
          <p:cNvSpPr txBox="1"/>
          <p:nvPr/>
        </p:nvSpPr>
        <p:spPr>
          <a:xfrm>
            <a:off x="6959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台程度の安価なカメラで成立するか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打撃動作でも精度を保てるか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上肢・手首の誤差は許容可能か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人体とバットを別経路で検出できるか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240 fps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の同期ずれを管理できるか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6A5ACC-2AF2-4914-088A-6AC2AD3F352C}"/>
              </a:ext>
            </a:extLst>
          </p:cNvPr>
          <p:cNvSpPr txBox="1"/>
          <p:nvPr/>
        </p:nvSpPr>
        <p:spPr>
          <a:xfrm>
            <a:off x="1651000" y="60706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先行研究は「正解」ではなく、自分の研究設計を作るための比較基準。</a:t>
            </a:r>
          </a:p>
        </p:txBody>
      </p:sp>
    </p:spTree>
    <p:extLst>
      <p:ext uri="{BB962C8B-B14F-4D97-AF65-F5344CB8AC3E}">
        <p14:creationId xmlns:p14="http://schemas.microsoft.com/office/powerpoint/2010/main" val="421171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39DE4-0667-C394-40B6-8F33C69BB61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TAKEAWAY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AC9075-AC42-C0A3-5DE7-8701C5ACF333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結論：方法だけでも、限界だけでもない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3C11F6-DE48-F0AE-B398-723DCA7F5753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FC6999-B441-B4ED-9C25-42A2F4B4FB6C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BC43F-882A-B871-D62D-9C2E3AECD61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0B6B24-74AB-6675-416C-66AC22D61CE4}"/>
              </a:ext>
            </a:extLst>
          </p:cNvPr>
          <p:cNvSpPr txBox="1"/>
          <p:nvPr/>
        </p:nvSpPr>
        <p:spPr>
          <a:xfrm>
            <a:off x="825500" y="1714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9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先行研究の使い方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97AF4FA-92B3-E7B0-64C6-20666E51D891}"/>
              </a:ext>
            </a:extLst>
          </p:cNvPr>
          <p:cNvSpPr/>
          <p:nvPr/>
        </p:nvSpPr>
        <p:spPr>
          <a:xfrm>
            <a:off x="914400" y="2413000"/>
            <a:ext cx="914400" cy="9144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69CF8D-684D-DC0D-F156-1145EB6A0450}"/>
              </a:ext>
            </a:extLst>
          </p:cNvPr>
          <p:cNvSpPr txBox="1"/>
          <p:nvPr/>
        </p:nvSpPr>
        <p:spPr>
          <a:xfrm>
            <a:off x="914400" y="2628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3FE800-D19E-7087-E1BF-93286C82BE25}"/>
              </a:ext>
            </a:extLst>
          </p:cNvPr>
          <p:cNvSpPr txBox="1"/>
          <p:nvPr/>
        </p:nvSpPr>
        <p:spPr>
          <a:xfrm>
            <a:off x="2159000" y="2349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背景をつくる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7DFF65-2F0A-072F-EEA8-A8D310232396}"/>
              </a:ext>
            </a:extLst>
          </p:cNvPr>
          <p:cNvSpPr txBox="1"/>
          <p:nvPr/>
        </p:nvSpPr>
        <p:spPr>
          <a:xfrm>
            <a:off x="2159000" y="2857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現場計測には価値があるが、精度と実用性に未解決点がある。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69B860C-6F37-4C2F-385D-BDC4DECFCC8D}"/>
              </a:ext>
            </a:extLst>
          </p:cNvPr>
          <p:cNvSpPr/>
          <p:nvPr/>
        </p:nvSpPr>
        <p:spPr>
          <a:xfrm>
            <a:off x="914400" y="3746500"/>
            <a:ext cx="914400" cy="9144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6F76B9-E05C-363B-368C-558B51554906}"/>
              </a:ext>
            </a:extLst>
          </p:cNvPr>
          <p:cNvSpPr txBox="1"/>
          <p:nvPr/>
        </p:nvSpPr>
        <p:spPr>
          <a:xfrm>
            <a:off x="914400" y="39624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2E379-193B-B5D3-7C6E-7845057BDCE3}"/>
              </a:ext>
            </a:extLst>
          </p:cNvPr>
          <p:cNvSpPr txBox="1"/>
          <p:nvPr/>
        </p:nvSpPr>
        <p:spPr>
          <a:xfrm>
            <a:off x="2159000" y="3683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方法を設計する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BD96D2-3645-6EC8-E920-28451E28C961}"/>
              </a:ext>
            </a:extLst>
          </p:cNvPr>
          <p:cNvSpPr txBox="1"/>
          <p:nvPr/>
        </p:nvSpPr>
        <p:spPr>
          <a:xfrm>
            <a:off x="2159000" y="41910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カメラ配置、同期、フィルタ、評価指標を自分の実験計画へ落とす。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EDDAE86-59B1-2F21-1062-E5578E35E03D}"/>
              </a:ext>
            </a:extLst>
          </p:cNvPr>
          <p:cNvSpPr/>
          <p:nvPr/>
        </p:nvSpPr>
        <p:spPr>
          <a:xfrm>
            <a:off x="914400" y="5080000"/>
            <a:ext cx="914400" cy="9144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22DCB0-8D9E-D964-3449-DB28278771E3}"/>
              </a:ext>
            </a:extLst>
          </p:cNvPr>
          <p:cNvSpPr txBox="1"/>
          <p:nvPr/>
        </p:nvSpPr>
        <p:spPr>
          <a:xfrm>
            <a:off x="914400" y="5295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34F81A-EF5D-C853-A06D-A68575935833}"/>
              </a:ext>
            </a:extLst>
          </p:cNvPr>
          <p:cNvSpPr txBox="1"/>
          <p:nvPr/>
        </p:nvSpPr>
        <p:spPr>
          <a:xfrm>
            <a:off x="2159000" y="5016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研究課題を絞る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690451-D8C8-34E5-3245-14998D8DCE44}"/>
              </a:ext>
            </a:extLst>
          </p:cNvPr>
          <p:cNvSpPr txBox="1"/>
          <p:nvPr/>
        </p:nvSpPr>
        <p:spPr>
          <a:xfrm>
            <a:off x="2159000" y="5524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「安価な少数カメラ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上肢・バット」の妥当性を検証する。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59751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Microsoft Office PowerPoint</Application>
  <PresentationFormat>ワイド画面</PresentationFormat>
  <Paragraphs>191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山藤　健太郎</dc:creator>
  <cp:lastModifiedBy>山藤　健太郎</cp:lastModifiedBy>
  <cp:revision>8</cp:revision>
  <dcterms:created xsi:type="dcterms:W3CDTF">2026-07-20T16:56:20Z</dcterms:created>
  <dcterms:modified xsi:type="dcterms:W3CDTF">2026-07-20T17:36:05Z</dcterms:modified>
</cp:coreProperties>
</file>