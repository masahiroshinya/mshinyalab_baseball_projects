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題目は案。別案：「判断を伴うバットスイングは何が変わるのか ―自由スイングと3種類の反応課題の比較―」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150 km/hの投球はリリースからホームベース到達まで約400 ms。スイング所要時間約150 msを除くと、判断の猶予は250〜350 ms。単純反応で約250 ms、選択反応で約370 ms（Wadoo &amp; Syeed, 2019）なので、見てから判断するだけでは時間的にきわめて厳しい。TTCが400〜425 msを下回るとコンタクト率が急低下する（Hayashi et al., 2026）。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Verbruggen &amp; Logan は Go/Stop の考察（Slide 14）で使うので、ここで一度紹介しておく。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Dai・Imaiは着地／ドロップジャンプの二重課題研究。スイングとは課題の構造が違う点をSlide 5につなげる。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指標が成績中心。2. 二重課題で床反力が変わることは着地・ジャンプでしか示されていない。3. 現場では判断を伴わない練習が多い。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LEDで「振る／振らない／止める」の判断を課す。判断の有無・内容・タイミングが異なる4条件。モーションキャプチャ＋フォースプレートで同時計測。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仮説はIntroduction 1-4のまま。結果では「速度は下がらなかった」と対比させる。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体重は解析で記録末端0.5 sから推定した値（平均 73.7 ± 9.4 kg）。年齢・身長・経験年数・利き手は実験記録から転記すること。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Qualisys 250 Hz、Bertec 2枚 1000 Hz、自作LED基板＋NI DAQ。各条件15試行、Go/No-GoとGo/StopはGo 10：No-Go/Stop 5。条件順はカウンターバランス。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onset：前後方向の合成床反力Fxが、cue前0.5 sの中央値＋（窓内ピーク−中央値）×0.20 を20 ms継続して超えた時点。20%・20 msはグリッド探索で選んだ値（150 ms未満の試行が最少・被験者内SD最小・条件順が単調）。必ず聞かれるので説明できるように。対象はGo試行のみ。統計検定は行っておらず、条件別中央値（全試行プール）と四分位範囲、被験者ごとの中央値を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free→simpleでMTは10名全員が短縮（色つき折れ線がすべて右下がり）。反応課題の中では simple &lt; Go/No-Go &lt; Go/Stop の順にRT・MTが長い。Go/No-GoのRTはsimpleより9 ms長いだけ。freeのRTはcueが反応の合図ではないため参考値。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仮説（負荷が高いほど速度が下がる）とは異なり、速度はほぼ一定。被験者間の差（27〜35 m/s）が条件間の差よりずっと大きい。床反力ピークはfreeがやや大きいが被験者で向きがばらつく。一方、力の立ち上がり速度は反応課題で大きい（210 → 261 %BW/s）。バット速度の図（378試行）と床反力の図（Go試行497本）は試行集合が違う点に注意。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は時間をかけて大きめの力を出し、反応課題はピークを少し抑えて速く立ち上げる。到達するバット速度は同じ。想定質問：freeの長いMTは検出のアーティファクトではない（2026-08-26検証済み）。踏み込み足はcue時点で全員すでに浮かせ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1回目の刺激はsimpleと同じGo cueなのにRTが43 ms長い。刺激の弁別では説明できず、停止信号に備えるとGo反応が遅くなるという事前的な調整（Verbruggen &amp; Logan, 2009）と整合。2回目の刺激は250 ms後で、Go/StopのRT（239 ms）とほぼ重なる。2回目を見てから動き出している可能性。【要確認】RT分布が250 ms付近に集まるか、Stop試行で実際に途中で止まっているかを確認してから話すか決める。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限界：10名・検定なしの途中経過。参加者を追加して統計的に検討する。Go/Stopの2回目刺激のタイミング（0.25 s）の妥当性を再検討。関節角度などを加え、時間の短縮がどこで生じているかを調べる。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MT（onset→バット先端速度ピーク）：704.5 / 546.5 / 564.0 / 607.0 ms。平均加速度：43.8 / 58.3 / 56.7 / 51.9 m/s²（図A、378試行）。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463040"/>
            <a:ext cx="292608" cy="292608"/>
          </a:xfrm>
          <a:prstGeom prst="ellipse">
            <a:avLst/>
          </a:prstGeom>
          <a:solidFill>
            <a:srgbClr val="F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188720" y="1463040"/>
            <a:ext cx="292608" cy="292608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645920" y="1463040"/>
            <a:ext cx="292608" cy="292608"/>
          </a:xfrm>
          <a:prstGeom prst="ellipse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2103120" y="1463040"/>
            <a:ext cx="292608" cy="292608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7680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反応時間課題が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バットスイングの動作時間と床反力に及ぼす影響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D3DC"/>
                </a:solidFill>
                <a:latin typeface="游ゴシック"/>
                <a:ea typeface="游ゴシック"/>
                <a:cs typeface="游ゴシック"/>
              </a:rPr>
              <a:t>― 10名の途中経過 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加藤 和太郎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2026 箱根合宿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Backgrounds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打撃は、約400 msのうちに「知覚・判断・動作」を統合する課題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投球リリースからホームベース到達まで（球速 150 km/h）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4914900" cy="548640"/>
          </a:xfrm>
          <a:prstGeom prst="rect">
            <a:avLst/>
          </a:prstGeom>
          <a:solidFill>
            <a:srgbClr val="D6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554980" y="2240280"/>
            <a:ext cx="2948940" cy="548640"/>
          </a:xfrm>
          <a:prstGeom prst="rect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6405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知覚・判断に使える猶予　250〜350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4980" y="2240280"/>
            <a:ext cx="29489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スイング 約150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40" y="2862072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0 ms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リリース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862072"/>
            <a:ext cx="1463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約400 ms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ホームベース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約250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単純反応時間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刺激と反応が1対1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（Wadoo &amp; Syeed, 2019）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39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74720" y="38862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約370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6634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選択反応時間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120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4択から選ぶ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（Wadoo &amp; Syeed, 2019）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3657600"/>
            <a:ext cx="2560320" cy="23774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59" y="388620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400〜425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66344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コンタクト率が急低下するTTC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512064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VR打撃課題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（Hayashi et al., 2026）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References：判断・反応課題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判断能力は、反応時間などの「成績」で評価されてきた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8229600" cy="98983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37744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Kida et al. (2005)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00200"/>
            <a:ext cx="530352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2年間の打撃練習で Go/No-Go 反応時間のみ短縮。単純反応時間は変化しない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54630"/>
            <a:ext cx="8229600" cy="98983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2754630"/>
            <a:ext cx="237744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Nakamoto &amp; Mori (2008)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54630"/>
            <a:ext cx="530352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Go/No-Go 反応時間は野球経験レベルを反映する競技特異的な指標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09060"/>
            <a:ext cx="8229600" cy="98983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3909060"/>
            <a:ext cx="237744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Gray (2004)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909060"/>
            <a:ext cx="530352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注意の向け先によって、二重課題の干渉の生じ方が熟練者と初心者で異なる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63490"/>
            <a:ext cx="8229600" cy="98983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5800" y="5063490"/>
            <a:ext cx="237744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Verbruggen &amp; Logan (2009)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5063490"/>
            <a:ext cx="5303520" cy="989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停止に備えると、Go 反応そのものが遅くなる（事前的な調整）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References：動作・床反力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判断と運動を統合した評価や、床反力とスイング速度の関係は示されている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8229600" cy="137464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37744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Nasu et al. (2020)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600200"/>
            <a:ext cx="530352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実際に振る課題の成績は打率の67%を説明。ボタン押しの認知課題は34%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39440"/>
            <a:ext cx="8229600" cy="137464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139440"/>
            <a:ext cx="237744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Orishimo et al.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139440"/>
            <a:ext cx="530352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スイング速度は踏み込み脚のピーク床反力で最もよく説明される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78680"/>
            <a:ext cx="8229600" cy="1374648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4678680"/>
            <a:ext cx="237744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Dai et al. (2018)
Imai et al. (2022)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678680"/>
            <a:ext cx="5303520" cy="1374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着地・ジャンプ動作では、認知課題を加えると床反力や関節角度が変化する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Problem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判断を伴うとき、スイング動作そのものがどう変わるかは分かっていない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85800" y="2011680"/>
            <a:ext cx="548640" cy="548640"/>
          </a:xfrm>
          <a:prstGeom prst="ellipse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指標が「成績」に偏っている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94560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反応時間・タイミング誤差・打撃結果が中心で、スイング中の動作は見ていない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36391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85800" y="3547872"/>
            <a:ext cx="548640" cy="548640"/>
          </a:xfrm>
          <a:prstGeom prst="ellipse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35478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300984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スイングでは未検討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730752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認知負荷で床反力が変わることは着地・ジャンプで示されたが、判断と全身の加速を数百 msで両立させるスイングでは調べられていない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72583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85800" y="5084064"/>
            <a:ext cx="548640" cy="548640"/>
          </a:xfrm>
          <a:prstGeom prst="ellipse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5084064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37175"/>
            <a:ext cx="7040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練習は判断を伴わないものが多い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66944"/>
            <a:ext cx="7040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素振り・ティー打撃で見ている動作が、判断を伴う実戦の動作と同じかは確かめられていない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判断の種類を段階的に変えた4条件で、スイングを測る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920240" cy="35661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685800" y="1828800"/>
            <a:ext cx="310896" cy="310896"/>
          </a:xfrm>
          <a:prstGeom prst="ellipse">
            <a:avLst/>
          </a:prstGeom>
          <a:solidFill>
            <a:srgbClr val="F4F4EE"/>
          </a:solidFill>
          <a:ln w="158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9AA5B1"/>
                </a:solidFill>
                <a:latin typeface="游ゴシック"/>
                <a:ea typeface="游ゴシック"/>
                <a:cs typeface="游ゴシック"/>
              </a:rPr>
              <a:t>自由スイング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判断なし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任意のタイミングで振る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1600200"/>
            <a:ext cx="1920240" cy="35661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788920" y="1828800"/>
            <a:ext cx="310896" cy="310896"/>
          </a:xfrm>
          <a:prstGeom prst="ellipse">
            <a:avLst/>
          </a:prstGeom>
          <a:solidFill>
            <a:srgbClr val="F4F4EE"/>
          </a:solidFill>
          <a:ln w="158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200400" y="1828800"/>
            <a:ext cx="310896" cy="31089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43200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単純反応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7889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461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520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刺激に反応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06908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緑で素早く振り始める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600200"/>
            <a:ext cx="1920240" cy="35661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892040" y="1828800"/>
            <a:ext cx="310896" cy="310896"/>
          </a:xfrm>
          <a:prstGeom prst="ellipse">
            <a:avLst/>
          </a:prstGeom>
          <a:solidFill>
            <a:srgbClr val="F4F4EE"/>
          </a:solidFill>
          <a:ln w="158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303520" y="1828800"/>
            <a:ext cx="310896" cy="31089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5715000" y="1828800"/>
            <a:ext cx="310896" cy="310896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46320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09A2B"/>
                </a:solidFill>
                <a:latin typeface="游ゴシック"/>
                <a:ea typeface="游ゴシック"/>
                <a:cs typeface="游ゴシック"/>
              </a:rPr>
              <a:t>Go/No-Go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7889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gonogo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2461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判断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520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振る／振らない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406908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スイング開始前に判断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600200"/>
            <a:ext cx="1920240" cy="35661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995160" y="1828800"/>
            <a:ext cx="310896" cy="310896"/>
          </a:xfrm>
          <a:prstGeom prst="ellipse">
            <a:avLst/>
          </a:prstGeom>
          <a:solidFill>
            <a:srgbClr val="F4F4EE"/>
          </a:solidFill>
          <a:ln w="1587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7406640" y="1828800"/>
            <a:ext cx="310896" cy="310896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818120" y="1828800"/>
            <a:ext cx="310896" cy="310896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49440" y="233172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D7263D"/>
                </a:solidFill>
                <a:latin typeface="游ゴシック"/>
                <a:ea typeface="游ゴシック"/>
                <a:cs typeface="游ゴシック"/>
              </a:rPr>
              <a:t>Go/Stop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278892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gostop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24612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判断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52044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続ける／止める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069080"/>
            <a:ext cx="1554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スイング開始後に判断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57200" y="5349240"/>
            <a:ext cx="8229600" cy="411480"/>
          </a:xfrm>
          <a:prstGeom prst="rightArrow">
            <a:avLst/>
          </a:prstGeom>
          <a:solidFill>
            <a:srgbClr val="DDE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349240"/>
            <a:ext cx="749807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認知的負荷：低 → 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89788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LED（白＝Ready、緑＝Go、赤＝No-Go／Stop）＋ モーションキャプチャ ＋ フォースプレートで同時計測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Purpose /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8229600" cy="146304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6809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判断の種類が異なる4条件で、反応時間・動作時間・バット速度・床反力を比較し、判断がバットスイングに及ぼす影響を明らかにする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Hypothesis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23360"/>
            <a:ext cx="411480" cy="411480"/>
          </a:xfrm>
          <a:prstGeom prst="ellipse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200" y="45262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005072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&lt;</a:t>
            </a:r>
          </a:p>
        </p:txBody>
      </p:sp>
      <p:sp>
        <p:nvSpPr>
          <p:cNvPr id="12" name="Oval 11"/>
          <p:cNvSpPr/>
          <p:nvPr/>
        </p:nvSpPr>
        <p:spPr>
          <a:xfrm>
            <a:off x="2331720" y="4023360"/>
            <a:ext cx="411480" cy="41148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20240" y="45262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005072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&lt;</a:t>
            </a:r>
          </a:p>
        </p:txBody>
      </p:sp>
      <p:sp>
        <p:nvSpPr>
          <p:cNvPr id="15" name="Oval 14"/>
          <p:cNvSpPr/>
          <p:nvPr/>
        </p:nvSpPr>
        <p:spPr>
          <a:xfrm>
            <a:off x="3794760" y="4023360"/>
            <a:ext cx="411480" cy="411480"/>
          </a:xfrm>
          <a:prstGeom prst="ellipse">
            <a:avLst/>
          </a:prstGeom>
          <a:solidFill>
            <a:srgbClr val="E0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383280" y="45262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Go/No-Go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05072"/>
            <a:ext cx="411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&lt;</a:t>
            </a:r>
          </a:p>
        </p:txBody>
      </p:sp>
      <p:sp>
        <p:nvSpPr>
          <p:cNvPr id="18" name="Oval 17"/>
          <p:cNvSpPr/>
          <p:nvPr/>
        </p:nvSpPr>
        <p:spPr>
          <a:xfrm>
            <a:off x="5257800" y="4023360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46320" y="4526280"/>
            <a:ext cx="1234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Go/Stop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認知的負荷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172200" y="4069080"/>
            <a:ext cx="548640" cy="365760"/>
          </a:xfrm>
          <a:prstGeom prst="rightArrow">
            <a:avLst/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0" y="365760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0" y="3657600"/>
            <a:ext cx="164592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バット速度 ↓</a:t>
            </a:r>
          </a:p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床反力 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根拠：注意資源の容量モデル（Kahneman, 1973）、踏み込み脚の床反力とスイング速度の正の関係（Orishimo et al., 2024）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Methods：対象・基本情報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野球経験5年以上の健常者10名（S01〜S10）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840480" cy="4480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4747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対象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硬式・軟式野球の競技経験5年以上の健常者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除外基準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上肢・下肢・体幹の整形外科的疾患、打撃時の痛み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倫理審査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広島大学大学院人間社会科学研究科倫理審査委員会（HS-ES-004358）、書面同意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1600200"/>
          <a:ext cx="4114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項目</a:t>
                      </a:r>
                    </a:p>
                  </a:txBody>
                  <a:tcPr anchor="ctr">
                    <a:solidFill>
                      <a:srgbClr val="1B26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値（平均 ± SD）</a:t>
                      </a:r>
                    </a:p>
                  </a:txBody>
                  <a:tcPr anchor="ctr">
                    <a:solidFill>
                      <a:srgbClr val="1B263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人数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10名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年齢（歳）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7263D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【要記入】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身長（cm）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7263D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【要記入】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体重（kg）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73.7 ± 9.4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野球経験（年）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7263D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【要記入】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222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利き手（右／左）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D7263D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【要記入】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Methods：測定環境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モーションキャプチャ・フォースプレート・LEDを同期して計測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モーションキャプチャ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Qualisys 250 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4144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バット（900 g木製）5点、手部3点・腰部4点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4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フォースプレート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Bertec ×2　1000 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0448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後ろ足 Force1／踏み込み足 Force2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LED刺激呈示装置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自作基板＋NI DAQ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6752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白＝Ready、緑＝Go、赤＝No-Go/Stop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60020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BC3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40" y="1600200"/>
            <a:ext cx="4023360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実験室の写真を挿入</a:t>
            </a:r>
          </a:p>
          <a:p>
            <a:pPr algn="ctr">
              <a:spcAft>
                <a:spcPts val="2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（打者・フォースプレート・LEDの位置関係）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160520"/>
            <a:ext cx="4023360" cy="210312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92040" y="4251960"/>
            <a:ext cx="3657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試行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各条件15試行（Go/No-Go・Go/Stop は Go 10：No-Go/Stop 5）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Foreperiod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free 1.5 s固定／反応課題 1.2〜1.8 sランダム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順序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条件順を参加者間でカウンターバランス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Methods：統計解析・解析指標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床反力で動作開始を、バット先端で到達速度をとらえる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  <p:pic>
        <p:nvPicPr>
          <p:cNvPr id="6" name="Picture 5" descr="代表試行波形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8229600" cy="2452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代表試行（S01）：踏み込み足 Fz に cue・onset・バット速度ピークを重ねたもの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343400"/>
            <a:ext cx="5120640" cy="19659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4462272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462272"/>
            <a:ext cx="3154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Go cue → onset（Fx の閾値超え）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18888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818888"/>
            <a:ext cx="3154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onset → 踏み込み足 Fz ピーク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75503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最大バット速度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175503"/>
            <a:ext cx="3154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バット先端の合成速度のピーク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19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ピーク鉛直床反力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532119"/>
            <a:ext cx="3154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踏み込み足 Fz のピーク [%BW]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88735"/>
            <a:ext cx="1691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力の立ち上がり速度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5888735"/>
            <a:ext cx="3154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Fz の増分 ÷ 体重 ÷ MT [%BW/s]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343400"/>
            <a:ext cx="2926080" cy="1965960"/>
          </a:xfrm>
          <a:prstGeom prst="roundRect">
            <a:avLst>
              <a:gd name="adj" fmla="val 8000"/>
            </a:avLst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0" y="4462272"/>
            <a:ext cx="265176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解析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Go 試行のみ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条件別中央値・四分位範囲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被験者ごとの中央値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3BD"/>
                </a:solidFill>
                <a:latin typeface="游ゴシック"/>
                <a:ea typeface="游ゴシック"/>
                <a:cs typeface="游ゴシック"/>
              </a:rPr>
              <a:t>統計検定は未実施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Results：Reaction Time, Movement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反応課題ではMTが約150 ms短い。反応課題の中ではGo/Stopが最も長い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  <p:pic>
        <p:nvPicPr>
          <p:cNvPr id="6" name="Picture 5" descr="01_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5120640" cy="2224188"/>
          </a:xfrm>
          <a:prstGeom prst="rect">
            <a:avLst/>
          </a:prstGeom>
        </p:spPr>
      </p:pic>
      <p:pic>
        <p:nvPicPr>
          <p:cNvPr id="7" name="Picture 6" descr="03_OnsetからFzピークまでの時間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32948"/>
            <a:ext cx="5120640" cy="2211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080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黒線＝条件別中央値（全試行プール）、色線＝被験者ごとの中央値。free の RT は参考値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63640" y="155448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−151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488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MT：free → simple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45059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616 → 465 ms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10名全員が短縮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1089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320040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+43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7947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RT：simple → Go/Stop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196 → 239 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475488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63640" y="484632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+57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406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MT：simple → Go/Stop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74243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465 → 522 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Results：Bat Peak Velocity, Fz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最大バット速度は4条件でほぼ同じ。床反力も大きくは変わらない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  <p:pic>
        <p:nvPicPr>
          <p:cNvPr id="6" name="Picture 5" descr="peakv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4572000" cy="2510117"/>
          </a:xfrm>
          <a:prstGeom prst="rect">
            <a:avLst/>
          </a:prstGeom>
        </p:spPr>
      </p:pic>
      <p:pic>
        <p:nvPicPr>
          <p:cNvPr id="7" name="Picture 6" descr="02_ピーク鉛直G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18877"/>
            <a:ext cx="4572000" cy="199341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463040"/>
            <a:ext cx="292608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0" y="157276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32.1 → 32.3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4884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最大バット速度 [m/s]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4688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free → simple（Go/Stop 32.2）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3108960"/>
            <a:ext cx="292608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0" y="321868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131.9 → 126.6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79476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ピーク床反力 [%BW]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1148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free → simple（Go/Stop 129.5）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754880"/>
            <a:ext cx="2926080" cy="15087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0" y="486460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210 → 261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544068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力の立ち上がり速度 [%BW/s]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7607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free → simple（Go/Stop 233）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80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上：バット速度（n = 116/110/81/71）　下：床反力（n = 144/131/95/85）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Discussion：Free condition VS Reaction Time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反応して振るとき、同じバット速度をより短い時間で出している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−25%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動作時間（MT）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3DC"/>
                </a:solidFill>
                <a:latin typeface="游ゴシック"/>
                <a:ea typeface="游ゴシック"/>
                <a:cs typeface="游ゴシック"/>
              </a:rPr>
              <a:t>free → simple：616 → 465 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600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B2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39" y="169164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+24%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39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力の立ち上がり速度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880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9D3DC"/>
                </a:solidFill>
                <a:latin typeface="游ゴシック"/>
                <a:ea typeface="游ゴシック"/>
                <a:cs typeface="游ゴシック"/>
              </a:rPr>
              <a:t>free → simple：210 → 261 %BW/s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79" y="160020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55079" y="1691640"/>
            <a:ext cx="21031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±1%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最大バット速度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8803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free → simple：32.1 → 32.3 m/s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解釈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</a:t>
            </a:r>
            <a:r>
              <a:rPr sz="15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時間的な制約があると、「力の大きさ」より「力を出す速さ」で速度を確保している可能性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</a:t>
            </a:r>
            <a:r>
              <a:rPr sz="15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free は時間をかけてやや大きな力を出し、反応課題は短時間で力を立ち上げる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6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E3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5394960"/>
            <a:ext cx="7772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示唆　</a:t>
            </a:r>
            <a:r>
              <a:rPr sz="15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素振り（自己ペース）で観察した動作は、反応を伴う場面の動作を代表するとは限らない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Discussion：Go/Stop task VS Simple Reaction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止める可能性に備えて、動作の開始と力の立ち上がりが遅くなる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1回目の Go cue からの時間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3291839"/>
            <a:ext cx="6675120" cy="0"/>
          </a:xfrm>
          <a:prstGeom prst="line">
            <a:avLst/>
          </a:prstGeom>
          <a:ln w="12700">
            <a:solidFill>
              <a:srgbClr val="5F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3375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6639" y="33375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100 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1679" y="33375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333756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300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simple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37360" y="2039112"/>
            <a:ext cx="4361078" cy="347472"/>
          </a:xfrm>
          <a:prstGeom prst="rect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8800" y="2039112"/>
            <a:ext cx="436107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RT 196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06039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D7263D"/>
                </a:solidFill>
                <a:latin typeface="游ゴシック"/>
                <a:ea typeface="游ゴシック"/>
                <a:cs typeface="游ゴシック"/>
              </a:rPr>
              <a:t>Go/Stop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2679191"/>
            <a:ext cx="5317845" cy="347472"/>
          </a:xfrm>
          <a:prstGeom prst="rect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28800" y="2679191"/>
            <a:ext cx="531784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RT 239 ms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99959" y="1783080"/>
            <a:ext cx="0" cy="1508759"/>
          </a:xfrm>
          <a:prstGeom prst="line">
            <a:avLst/>
          </a:prstGeom>
          <a:ln w="25400">
            <a:solidFill>
              <a:srgbClr val="D726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171944" y="1508760"/>
            <a:ext cx="256032" cy="256032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482839" y="1463039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D7263D"/>
                </a:solidFill>
                <a:latin typeface="游ゴシック"/>
                <a:ea typeface="游ゴシック"/>
                <a:cs typeface="游ゴシック"/>
              </a:rPr>
              <a:t>2回目の刺激 250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+43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931920"/>
            <a:ext cx="1005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434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simple → Go/Stop：196 → 239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91839" y="38404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74720" y="38862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+57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931920"/>
            <a:ext cx="1005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MT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434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simple → Go/Stop：465 → 522 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384048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59" y="3886200"/>
            <a:ext cx="1280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≒0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931920"/>
            <a:ext cx="10058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最大速度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44348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simple → Go/Stop：32.3 → 32.2 m/s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074920"/>
            <a:ext cx="8229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</a:t>
            </a: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同じ Go cue なのに RT が延長 → 停止への備え（Verbruggen &amp; Logan, 2009）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</a:t>
            </a: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RT が2回目の刺激（250 ms）とほぼ重なる → 2回目を見てから動き出している可能性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</a:t>
            </a:r>
            <a:r>
              <a:rPr sz="1300" b="0" i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力の立ち上がりは緩やか（261 → 233 %BW/s）でも、最大バット速度は保たれる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Conclusion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35607"/>
            <a:ext cx="502920" cy="502920"/>
          </a:xfrm>
          <a:prstGeom prst="ellips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435607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25880"/>
            <a:ext cx="7315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反応して振ると、自由スイングと同じバット速度を、より短い動作時間・より速い力の立ち上がりで達成していた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24328"/>
            <a:ext cx="502920" cy="502920"/>
          </a:xfrm>
          <a:prstGeom prst="ellipse">
            <a:avLst/>
          </a:prstGeom>
          <a:solidFill>
            <a:srgbClr val="D7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62432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514600"/>
            <a:ext cx="7315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Go/Stop 課題では、止める準備によって動作の開始と力の立ち上がりが遅くなったが、最大バット速度は保たれていた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813048"/>
            <a:ext cx="502920" cy="502920"/>
          </a:xfrm>
          <a:prstGeom prst="ellipse">
            <a:avLst/>
          </a:prstGeom>
          <a:solidFill>
            <a:srgbClr val="F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38130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703320"/>
            <a:ext cx="7315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自由スイング（素振り）で観察した動作は、判断を伴う場面の動作を代表するとは限らない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8046720" cy="1325880"/>
          </a:xfrm>
          <a:prstGeom prst="roundRect">
            <a:avLst>
              <a:gd name="adj" fmla="val 8000"/>
            </a:avLst>
          </a:prstGeom>
          <a:solidFill>
            <a:srgbClr val="2A3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5120640"/>
            <a:ext cx="7589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D3DC"/>
                </a:solidFill>
                <a:latin typeface="游ゴシック"/>
                <a:ea typeface="游ゴシック"/>
                <a:cs typeface="游ゴシック"/>
              </a:rPr>
              <a:t>限界と今後　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10名・検定なしの途中経過 → 参加者を追加し統計的に検討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Go/Stop の2回目刺激（0.25 s）の妥当性を再検討／関節角度などの運動学的指標を追加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B2631"/>
                </a:solidFill>
                <a:latin typeface="游ゴシック"/>
                <a:ea typeface="游ゴシック"/>
                <a:cs typeface="游ゴシック"/>
              </a:rPr>
              <a:t>Backup：バット側の動作時間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9E57"/>
                </a:solidFill>
                <a:latin typeface="游ゴシック"/>
                <a:ea typeface="游ゴシック"/>
                <a:cs typeface="游ゴシック"/>
              </a:rPr>
              <a:t>onset → バット速度ピークでも同じ傾向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2026 箱根合宿｜反応時間課題バットスイング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5F6B76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  <p:pic>
        <p:nvPicPr>
          <p:cNvPr id="6" name="Picture 5" descr="mt_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8229600" cy="4473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